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80" r:id="rId2"/>
  </p:sldMasterIdLst>
  <p:notesMasterIdLst>
    <p:notesMasterId r:id="rId69"/>
  </p:notesMasterIdLst>
  <p:sldIdLst>
    <p:sldId id="1123" r:id="rId3"/>
    <p:sldId id="1124" r:id="rId4"/>
    <p:sldId id="1296" r:id="rId5"/>
    <p:sldId id="1297" r:id="rId6"/>
    <p:sldId id="1298" r:id="rId7"/>
    <p:sldId id="1304" r:id="rId8"/>
    <p:sldId id="1308" r:id="rId9"/>
    <p:sldId id="1307" r:id="rId10"/>
    <p:sldId id="1309" r:id="rId11"/>
    <p:sldId id="1310" r:id="rId12"/>
    <p:sldId id="1313" r:id="rId13"/>
    <p:sldId id="1314" r:id="rId14"/>
    <p:sldId id="1315" r:id="rId15"/>
    <p:sldId id="1316" r:id="rId16"/>
    <p:sldId id="1317" r:id="rId17"/>
    <p:sldId id="1299" r:id="rId18"/>
    <p:sldId id="1318" r:id="rId19"/>
    <p:sldId id="1319" r:id="rId20"/>
    <p:sldId id="1332" r:id="rId21"/>
    <p:sldId id="1333" r:id="rId22"/>
    <p:sldId id="1334" r:id="rId23"/>
    <p:sldId id="1335" r:id="rId24"/>
    <p:sldId id="1320" r:id="rId25"/>
    <p:sldId id="1336" r:id="rId26"/>
    <p:sldId id="1337" r:id="rId27"/>
    <p:sldId id="1338" r:id="rId28"/>
    <p:sldId id="1339" r:id="rId29"/>
    <p:sldId id="1340" r:id="rId30"/>
    <p:sldId id="1300" r:id="rId31"/>
    <p:sldId id="1341" r:id="rId32"/>
    <p:sldId id="1353" r:id="rId33"/>
    <p:sldId id="1354" r:id="rId34"/>
    <p:sldId id="1342" r:id="rId35"/>
    <p:sldId id="1355" r:id="rId36"/>
    <p:sldId id="1343" r:id="rId37"/>
    <p:sldId id="1356" r:id="rId38"/>
    <p:sldId id="1357" r:id="rId39"/>
    <p:sldId id="1347" r:id="rId40"/>
    <p:sldId id="1358" r:id="rId41"/>
    <p:sldId id="1348" r:id="rId42"/>
    <p:sldId id="1359" r:id="rId43"/>
    <p:sldId id="1360" r:id="rId44"/>
    <p:sldId id="1361" r:id="rId45"/>
    <p:sldId id="1303" r:id="rId46"/>
    <p:sldId id="1185" r:id="rId47"/>
    <p:sldId id="1184" r:id="rId48"/>
    <p:sldId id="1187" r:id="rId49"/>
    <p:sldId id="1193" r:id="rId50"/>
    <p:sldId id="1362" r:id="rId51"/>
    <p:sldId id="1188" r:id="rId52"/>
    <p:sldId id="1189" r:id="rId53"/>
    <p:sldId id="1194" r:id="rId54"/>
    <p:sldId id="1195" r:id="rId55"/>
    <p:sldId id="1371" r:id="rId56"/>
    <p:sldId id="1190" r:id="rId57"/>
    <p:sldId id="1191" r:id="rId58"/>
    <p:sldId id="1363" r:id="rId59"/>
    <p:sldId id="1364" r:id="rId60"/>
    <p:sldId id="1365" r:id="rId61"/>
    <p:sldId id="1192" r:id="rId62"/>
    <p:sldId id="1228" r:id="rId63"/>
    <p:sldId id="1230" r:id="rId64"/>
    <p:sldId id="1229" r:id="rId65"/>
    <p:sldId id="1231" r:id="rId66"/>
    <p:sldId id="1232" r:id="rId67"/>
    <p:sldId id="1372" r:id="rId6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8AC04"/>
    <a:srgbClr val="008000"/>
    <a:srgbClr val="99FFCC"/>
    <a:srgbClr val="FFFF66"/>
    <a:srgbClr val="800080"/>
    <a:srgbClr val="0000FF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1" autoAdjust="0"/>
    <p:restoredTop sz="95479" autoAdjust="0"/>
  </p:normalViewPr>
  <p:slideViewPr>
    <p:cSldViewPr>
      <p:cViewPr varScale="1">
        <p:scale>
          <a:sx n="87" d="100"/>
          <a:sy n="87" d="100"/>
        </p:scale>
        <p:origin x="126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0DE829B-7890-43D4-898A-49F5ED4AC7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648C795-F288-4174-9A6D-C1D7E1F0FA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743DB9B-19A9-49F5-965D-F17D5E4016B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402D20CE-91B9-43AD-AA6C-EC7DCC041C8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D5997F25-0BFE-42E8-92DE-FF4AB235CD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3AD0E0A8-6FE3-4478-A633-E8F2BA7C90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B0415B7-8DC5-49FE-92AE-67DBB7BA171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415B7-8DC5-49FE-92AE-67DBB7BA1716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20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D102EE5-C12C-433C-83F3-33901DF4C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1D764-7DAA-4F39-940B-977372EF0F2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A94BE58-3482-4DC7-B40A-130188D177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B2586DA-683B-4149-8A73-89968D08A0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40A5082F-8C6B-4BA2-A44C-DE38468497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9110371"/>
      </p:ext>
    </p:extLst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DAFD7B-9AAE-4F30-B47A-4D22BCAA7B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9E21A-3797-4A66-90E3-E407DB72810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215CF8-51ED-4CEE-AC99-459CB45CC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78F66AF-3B96-4438-8674-36F02EC98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A9033116-C045-4377-B361-BD59041055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9833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A59FD9-BDE5-457B-8D92-4162CCB47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0FACD-7B92-44E2-A728-180C0B593F7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4776C1-513B-49F3-BCB9-92A5248C1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838AF96-6195-4E53-9BF5-4771405CB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310B2BDD-7278-45F7-8248-58875DF764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0622306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AE9ABD-1DFC-497A-987C-F50253F983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1932F-6C0D-40CA-BB96-011379939A6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6E3954-9DEB-4DB5-9052-CC8C2D49FB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BD91A06-DE62-484D-A51E-7AFBC3C32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4013A211-4609-41C2-A8DF-E0841DE008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476333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95FA389-CFED-4698-B114-9792948214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6EF49-8E57-4F37-B129-C78D916A785D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C203737-2F87-497D-A140-C99C2E9E1B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5ADB42F-26D6-4FFE-B393-E6DBFDA366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CE57FD72-2366-404F-B576-B40E971BB9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5957638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4CEFB53-B4E2-4EA6-8C1F-52967891EF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E1256-C730-4314-A768-8A0F0B644EC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9263E97-3BE1-4C6F-9A93-A2C55DE52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27CF136-D4F5-41B6-872E-CE3225FC40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11E7A8DC-0CB0-4FE9-9B79-0205495CEA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749791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EA59830-EF41-4E55-86B2-5E1F827631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48A2B-D349-4A06-B787-D96D511F4D3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62EA886-9DF7-4DE5-9DD8-6E7FD8579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8896A41-8947-4D09-82BE-DD4F2BF993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CD8E1E56-03C6-4CC3-8AE2-0E307CADD3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059554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EA184F-A6E5-40CE-9AF7-66E2EFB1F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8B9CD-79AE-412B-90EA-71C5350EF13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896C11-EA5D-4F44-873F-274AA7DFB1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671EE57-F61F-48E7-901F-2A9EB18933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AD1ABE31-069E-491E-9F02-26B86C0939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292197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EE44CE-2A34-4BEF-AC0C-225A1E460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88475-AEC1-4958-8AB0-BC70710AEB2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EEF4D6-6A68-4D2C-AAF0-EF622D4131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5A55C28-61DA-4930-9C7C-5831018DB4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4654165E-6C93-45C7-800F-0E76479E6C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0906043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71FE76-EBC3-4127-AA39-EF976D1B8D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64DD8-5B11-4F27-AA85-01B74ADA5E5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8B1507-21C2-4FE1-9F34-C3B4FC6937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07D28E7-E066-4D59-A521-59BFB5A8A6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4DE44446-C566-460F-B284-CD4EB0E30B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60288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D24281-611B-40B2-9677-BE72ACF9B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32315-7696-42A3-9B65-A39105EC4B8D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CDAEF2-88DE-4DCE-8523-7AC0F114BD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268FFAE-D634-43B3-806B-A5A94A3448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D4459CBF-6D83-44DE-8238-A203DC46B5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408247"/>
      </p:ext>
    </p:extLst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4213" y="609600"/>
            <a:ext cx="7773987" cy="5494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2A2485-645C-481A-9733-E4D6799926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36698-0A24-4CC7-8B89-53C84A12500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FC4EEE-4867-404B-9709-0893AD354E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807704F-52D6-49F8-B7C1-741EDDD101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BB6DD51F-AD00-4EDE-A47B-031FFD030F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778704"/>
      </p:ext>
    </p:extLst>
  </p:cSld>
  <p:clrMapOvr>
    <a:masterClrMapping/>
  </p:clrMapOvr>
  <p:transition spd="med">
    <p:wipe dir="r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692150"/>
            <a:ext cx="7696200" cy="1524000"/>
          </a:xfrm>
        </p:spPr>
        <p:txBody>
          <a:bodyPr tIns="0" bIns="0" anchor="b"/>
          <a:lstStyle>
            <a:lvl1pPr>
              <a:lnSpc>
                <a:spcPct val="85000"/>
              </a:lnSpc>
              <a:defRPr sz="58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en-US" noProof="0"/>
          </a:p>
        </p:txBody>
      </p:sp>
    </p:spTree>
    <p:extLst>
      <p:ext uri="{BB962C8B-B14F-4D97-AF65-F5344CB8AC3E}">
        <p14:creationId xmlns:p14="http://schemas.microsoft.com/office/powerpoint/2010/main" val="2128798343"/>
      </p:ext>
    </p:extLst>
  </p:cSld>
  <p:clrMapOvr>
    <a:masterClrMapping/>
  </p:clrMapOvr>
  <p:transition spd="med">
    <p:wipe dir="r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696913"/>
            <a:ext cx="8064500" cy="923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795463"/>
            <a:ext cx="3956050" cy="4586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19638" y="1795463"/>
            <a:ext cx="3956050" cy="2216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19638" y="4164013"/>
            <a:ext cx="3956050" cy="22177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4353DC76-7572-43DD-81CB-B11B5F89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825" y="6405563"/>
            <a:ext cx="1512888" cy="3365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CF692-C071-4343-B099-49107146344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438946-2953-4A26-B7FB-D36E03C8D5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47025" y="6405563"/>
            <a:ext cx="1162050" cy="3365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A2722BA2-0AA9-4563-88F1-90BBF2D63C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932688"/>
      </p:ext>
    </p:extLst>
  </p:cSld>
  <p:clrMapOvr>
    <a:masterClrMapping/>
  </p:clrMapOvr>
  <p:transition spd="med">
    <p:wipe dir="r"/>
  </p:transition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E4F825-4184-4837-BBF5-9C4CEEFDFC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734A7-3137-489E-B7FD-789EC7E03C7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91405E-AB15-43B6-8BED-64A33B77A0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AC115ED-21B3-4994-B2A5-0C5562911E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930061D2-1996-429A-AB88-7A37270379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235667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043777-04BE-466C-9DF1-50978BE052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7EADB-951C-42C7-8B50-A69D09E8F4C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2EC394-AEAD-4A58-B06E-C1250B4EC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B8B25D-4ED0-42D9-9991-29E735F9A1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0CDB1B-40A3-4B4E-A2C5-7D4B1F792A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96536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B83248-8B36-4329-A6CA-65D5E8263A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141D0-2E19-451F-A198-AC03F4D3647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8021E7-C9D6-446E-937C-2C288948DE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A5CCA1-38EC-45EC-95CD-DBB86025F4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79BAC1-739C-4C61-A82A-D2892C28A3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84663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F3BF67-87CE-4768-9C99-E0541E910F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CFD42-8A1C-47CB-9845-FE7A53CEE9E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866B69-384A-4766-9B7D-DD26603111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4B42C6-ACDD-4FC4-AFFA-C9E2CA279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AAC14-616A-4CF2-AF9E-79BFC5D68B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84241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5DBE8-3935-4CF2-80EE-B345D7DF7F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18BF1-96DD-44B5-B664-710C8B739EDB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4C0F06-BA74-40AD-8915-6531D44910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E034C-BC1B-4A7B-93E0-EA4B4BA01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7D3CDB-0DD1-4167-B732-FC53BD77DF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126859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10D69AF-5F62-44C2-B142-2202C30391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A481D-D2EA-4B33-9859-D0426AE2B42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3A58EA5-8A0E-44F7-A386-23495F607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AB931B-B316-4E99-9D59-F921F9681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DB1B74-7194-4F20-AE9D-D0A700F46C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84453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2983CF6-878A-4940-AFF9-F09E1A286A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F2BE0-DC58-44A3-8F4A-C5FD510EA8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7DCBA9-AAFF-4DCA-993D-7F22693D49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AC9ACB5-EC2F-45D0-8BDE-9FD0536E54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2A9EC1-CB46-4E17-B1EA-C9A9F65B37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66949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850327A-0D8C-4FCB-B148-84F1F21C34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64FC2-093C-44A5-9861-D49FDC831C7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2069136-1AAF-4B40-BA18-A5D627CDBD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9E5C07-9743-47AA-A1AF-B9D0428D59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047E0-DE4D-4B94-BC9F-A84C377550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9041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531FC1-6E62-4075-A3F9-AC6A8B0CCB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D41C4-F917-46D8-9D6C-81B46BEEDC6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5C142A-F4A3-4E1E-B8AC-AD8221BF41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87E2D-34AF-480C-866A-02EA22D3F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6F101F-4E75-474C-89A6-C8FC74DDE5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10538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F82F44-B855-43B9-9FE1-AA08435587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290C6-1140-4AB8-A1FA-502C7E24003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2D604-C5F6-4829-8AEE-550A5FFAEC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BFB081-D999-4D70-A378-A6055EE63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C2FE7E-73D4-4F69-9AF2-0D77EDEE6C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69048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18BA19-1EE7-40ED-B3A0-4DDAAD0E6A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4817D-01B6-4DF0-B3C1-A49C4D6D7D7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46BB5-C3DC-4155-967C-E42AA5822B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87E0A8-B7EF-4356-8F9C-9475F240E0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CBEDA7-820A-4E4E-B5E9-7C8039A996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928832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C5AF44-5966-419B-A2CC-9A1FF8C1A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AD4F0-53FD-4AA0-97E9-2973B75ECF3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41E602-1DCC-4808-80F1-A6B22B747B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D7B8AE-F803-4BA6-AB69-48A93492D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656429-E21E-4B70-B527-025AF95898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73980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2D9E7F63-DB7F-4E81-B802-30A8BA80E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989B0D3-43F9-43B3-8DE7-6D5555E20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64F7971-9930-45A4-AFBC-5F83D168022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fld id="{2F0C826A-0B42-4AC3-A6B5-DE5A4C62218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95FACBA-E92D-46F6-957A-CFCAA8AC1A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2CB3F41-FD41-41EF-8EF6-DA2FCA6E24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4ED86863-BD34-4CEF-AD65-71B3E52B71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031" name="Picture 10" descr="12副本1">
            <a:extLst>
              <a:ext uri="{FF2B5EF4-FFF2-40B4-BE49-F238E27FC236}">
                <a16:creationId xmlns:a16="http://schemas.microsoft.com/office/drawing/2014/main" id="{7E0E356D-C090-4D66-9D53-FCC9AB872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57" r:id="rId2"/>
    <p:sldLayoutId id="2147484258" r:id="rId3"/>
    <p:sldLayoutId id="2147484259" r:id="rId4"/>
    <p:sldLayoutId id="2147484260" r:id="rId5"/>
    <p:sldLayoutId id="2147484261" r:id="rId6"/>
    <p:sldLayoutId id="2147484262" r:id="rId7"/>
    <p:sldLayoutId id="2147484263" r:id="rId8"/>
    <p:sldLayoutId id="2147484264" r:id="rId9"/>
    <p:sldLayoutId id="2147484265" r:id="rId10"/>
    <p:sldLayoutId id="2147484244" r:id="rId11"/>
    <p:sldLayoutId id="2147484266" r:id="rId12"/>
    <p:sldLayoutId id="2147484267" r:id="rId13"/>
    <p:sldLayoutId id="2147484268" r:id="rId14"/>
    <p:sldLayoutId id="2147484245" r:id="rId15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kumimoji="1" sz="2000" kern="1200">
          <a:solidFill>
            <a:schemeClr val="tx1"/>
          </a:solidFill>
          <a:latin typeface="+mj-lt"/>
          <a:ea typeface="+mj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2885427-A59B-4779-80C6-0841018BF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B84ABA81-BBFC-48D8-B120-1857E3358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24996" name="Rectangle 4">
            <a:extLst>
              <a:ext uri="{FF2B5EF4-FFF2-40B4-BE49-F238E27FC236}">
                <a16:creationId xmlns:a16="http://schemas.microsoft.com/office/drawing/2014/main" id="{BA6CBD0A-8EA2-4729-9C67-0581BC7F30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fld id="{2B1B1C93-4ED7-4A98-9492-FC8A8268CE8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24997" name="Rectangle 5">
            <a:extLst>
              <a:ext uri="{FF2B5EF4-FFF2-40B4-BE49-F238E27FC236}">
                <a16:creationId xmlns:a16="http://schemas.microsoft.com/office/drawing/2014/main" id="{A62313E5-FE59-4232-A6EE-483B944181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24998" name="Rectangle 6">
            <a:extLst>
              <a:ext uri="{FF2B5EF4-FFF2-40B4-BE49-F238E27FC236}">
                <a16:creationId xmlns:a16="http://schemas.microsoft.com/office/drawing/2014/main" id="{7D8A7809-A18F-44CA-8D39-0F0F4E864E7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fld id="{A3FF459A-E70A-487D-BF53-83D91FA1CFFB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2055" name="Picture 7" descr="12副本1">
            <a:extLst>
              <a:ext uri="{FF2B5EF4-FFF2-40B4-BE49-F238E27FC236}">
                <a16:creationId xmlns:a16="http://schemas.microsoft.com/office/drawing/2014/main" id="{A9213283-3421-4C62-8B70-FC57C3C1E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6" r:id="rId1"/>
    <p:sldLayoutId id="2147484247" r:id="rId2"/>
    <p:sldLayoutId id="2147484248" r:id="rId3"/>
    <p:sldLayoutId id="2147484249" r:id="rId4"/>
    <p:sldLayoutId id="2147484250" r:id="rId5"/>
    <p:sldLayoutId id="2147484251" r:id="rId6"/>
    <p:sldLayoutId id="2147484252" r:id="rId7"/>
    <p:sldLayoutId id="2147484253" r:id="rId8"/>
    <p:sldLayoutId id="2147484254" r:id="rId9"/>
    <p:sldLayoutId id="2147484255" r:id="rId10"/>
    <p:sldLayoutId id="2147484256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>
            <a:extLst>
              <a:ext uri="{FF2B5EF4-FFF2-40B4-BE49-F238E27FC236}">
                <a16:creationId xmlns:a16="http://schemas.microsoft.com/office/drawing/2014/main" id="{D951796A-769A-4C16-AC24-0BB38096ED8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CE8CD7D-CF80-428B-8060-CD2D67453881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页脚占位符 2">
            <a:extLst>
              <a:ext uri="{FF2B5EF4-FFF2-40B4-BE49-F238E27FC236}">
                <a16:creationId xmlns:a16="http://schemas.microsoft.com/office/drawing/2014/main" id="{7A8253DC-14BD-4C2F-896B-BEAFF1C327F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F5A8295D-1B0A-4B2D-9A27-626AA1C1D24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D3EFFEC-3883-4323-8B97-9ADC938655D8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9" name="页脚占位符 3">
            <a:extLst>
              <a:ext uri="{FF2B5EF4-FFF2-40B4-BE49-F238E27FC236}">
                <a16:creationId xmlns:a16="http://schemas.microsoft.com/office/drawing/2014/main" id="{237C632E-3DFB-4423-A7A3-8E901E4031D8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6AB0792E-BF6B-4FD1-86E4-1B7C0354D66E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56B44A86-AA07-4199-AA74-DBDECD51C8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>
                <a:solidFill>
                  <a:schemeClr val="accent2"/>
                </a:solidFill>
                <a:effectLst/>
                <a:ea typeface="隶书" panose="02010509060101010101" pitchFamily="49" charset="-122"/>
                <a:cs typeface="楷体_GB2312" pitchFamily="49" charset="-122"/>
              </a:rPr>
              <a:t>离散数学</a:t>
            </a:r>
            <a:endParaRPr lang="zh-CN" altLang="en-US" sz="6600" b="1">
              <a:solidFill>
                <a:schemeClr val="accent2"/>
              </a:solidFill>
              <a:effectLst/>
              <a:ea typeface="隶书" panose="02010509060101010101" pitchFamily="49" charset="-122"/>
              <a:cs typeface="楷体_GB2312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  <a:cs typeface="楷体_GB2312" pitchFamily="49" charset="-122"/>
              </a:rPr>
              <a:t>Discrete Mathematics</a:t>
            </a:r>
            <a:r>
              <a:rPr lang="en-US" altLang="zh-CN" sz="3600" b="1">
                <a:solidFill>
                  <a:schemeClr val="accent2"/>
                </a:solidFill>
                <a:ea typeface="宋体" panose="02010600030101010101" pitchFamily="2" charset="-122"/>
                <a:cs typeface="楷体_GB2312" pitchFamily="49" charset="-122"/>
              </a:rPr>
              <a:t> </a:t>
            </a:r>
          </a:p>
        </p:txBody>
      </p:sp>
      <p:sp>
        <p:nvSpPr>
          <p:cNvPr id="16391" name="Text Box 4">
            <a:extLst>
              <a:ext uri="{FF2B5EF4-FFF2-40B4-BE49-F238E27FC236}">
                <a16:creationId xmlns:a16="http://schemas.microsoft.com/office/drawing/2014/main" id="{B2137D79-C1F8-4FA7-9307-FF8B139B8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343400"/>
            <a:ext cx="685800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</a:t>
            </a:r>
            <a:r>
              <a:rPr kumimoji="0" lang="zh-CN" altLang="en-US" sz="3200" b="1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博士</a:t>
            </a:r>
            <a:endParaRPr kumimoji="0" lang="zh-CN" altLang="en-US" sz="3200" b="1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合肥工业大学计算机与信息学院</a:t>
            </a:r>
          </a:p>
        </p:txBody>
      </p:sp>
      <p:pic>
        <p:nvPicPr>
          <p:cNvPr id="1639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934075E-4346-4089-9BE0-CE5E906B5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>
            <a:extLst>
              <a:ext uri="{FF2B5EF4-FFF2-40B4-BE49-F238E27FC236}">
                <a16:creationId xmlns:a16="http://schemas.microsoft.com/office/drawing/2014/main" id="{C3E15E71-34EC-426C-BF19-F68EE6720F3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91795A-172A-4EB4-85F7-04B37723B93F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页脚占位符 4">
            <a:extLst>
              <a:ext uri="{FF2B5EF4-FFF2-40B4-BE49-F238E27FC236}">
                <a16:creationId xmlns:a16="http://schemas.microsoft.com/office/drawing/2014/main" id="{756E1377-267F-4321-9822-9B65689043ED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0A25642B-E0D0-4EA6-88E3-E1B8158DDC8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0E873E4-00F0-48E3-994E-DA38DE15DDF7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D2210933-A5E1-42C6-985B-59D8B7F230B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03238" y="1957388"/>
            <a:ext cx="8137525" cy="2517775"/>
          </a:xfrm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树基本理论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与算法（下）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17414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2E800D48-B913-48EB-A5B9-27DC05B50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>
            <a:extLst>
              <a:ext uri="{FF2B5EF4-FFF2-40B4-BE49-F238E27FC236}">
                <a16:creationId xmlns:a16="http://schemas.microsoft.com/office/drawing/2014/main" id="{D139D64E-D9CA-4E53-B34C-517C648490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8A87A81-7CD1-4818-BE97-BC669A1018B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1BBB9106-251B-44A5-B3B8-97836BD25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58838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本章学习内容</a:t>
            </a:r>
            <a:endParaRPr lang="zh-CN" altLang="en-US" sz="4800" b="1">
              <a:ea typeface="宋体" panose="02010600030101010101" pitchFamily="2" charset="-122"/>
            </a:endParaRPr>
          </a:p>
        </p:txBody>
      </p:sp>
      <p:grpSp>
        <p:nvGrpSpPr>
          <p:cNvPr id="18436" name="Group 21">
            <a:extLst>
              <a:ext uri="{FF2B5EF4-FFF2-40B4-BE49-F238E27FC236}">
                <a16:creationId xmlns:a16="http://schemas.microsoft.com/office/drawing/2014/main" id="{8D3836F7-A939-4D8D-B2E5-0D880343D878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420938"/>
            <a:ext cx="4724400" cy="3598862"/>
            <a:chOff x="1474" y="1344"/>
            <a:chExt cx="2976" cy="2267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277FF778-E155-4E74-BEA4-C89BBCB6EA6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1443"/>
              <a:ext cx="2736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438" name="AutoShape 10">
              <a:extLst>
                <a:ext uri="{FF2B5EF4-FFF2-40B4-BE49-F238E27FC236}">
                  <a16:creationId xmlns:a16="http://schemas.microsoft.com/office/drawing/2014/main" id="{391A3C7D-22A6-448D-A780-AA9AA916D46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344"/>
              <a:ext cx="432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39" name="Text Box 11">
              <a:extLst>
                <a:ext uri="{FF2B5EF4-FFF2-40B4-BE49-F238E27FC236}">
                  <a16:creationId xmlns:a16="http://schemas.microsoft.com/office/drawing/2014/main" id="{5C402DC8-7850-4E50-BDC9-6146AC03B3B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1490"/>
              <a:ext cx="22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无向树的基本知识</a:t>
              </a:r>
            </a:p>
          </p:txBody>
        </p:sp>
        <p:sp>
          <p:nvSpPr>
            <p:cNvPr id="18440" name="Text Box 12">
              <a:extLst>
                <a:ext uri="{FF2B5EF4-FFF2-40B4-BE49-F238E27FC236}">
                  <a16:creationId xmlns:a16="http://schemas.microsoft.com/office/drawing/2014/main" id="{FF68DBB9-E233-4F56-9E50-8FAABBF44B8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1426"/>
              <a:ext cx="22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45B3D935-6EBB-4BB2-8A9D-D2B105B113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024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442" name="AutoShape 15">
              <a:extLst>
                <a:ext uri="{FF2B5EF4-FFF2-40B4-BE49-F238E27FC236}">
                  <a16:creationId xmlns:a16="http://schemas.microsoft.com/office/drawing/2014/main" id="{EED0C0A1-1C45-4328-BE85-0DAF00FA475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927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43" name="Text Box 16">
              <a:extLst>
                <a:ext uri="{FF2B5EF4-FFF2-40B4-BE49-F238E27FC236}">
                  <a16:creationId xmlns:a16="http://schemas.microsoft.com/office/drawing/2014/main" id="{3C575461-4484-473B-B9CB-CDE168D6A09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2017"/>
              <a:ext cx="216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根树的基本知识</a:t>
              </a:r>
            </a:p>
          </p:txBody>
        </p:sp>
        <p:sp>
          <p:nvSpPr>
            <p:cNvPr id="18444" name="Text Box 17">
              <a:extLst>
                <a:ext uri="{FF2B5EF4-FFF2-40B4-BE49-F238E27FC236}">
                  <a16:creationId xmlns:a16="http://schemas.microsoft.com/office/drawing/2014/main" id="{659A42E8-AB57-4E12-BEAB-489AC53921F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2008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18445" name="AutoShape 29">
              <a:extLst>
                <a:ext uri="{FF2B5EF4-FFF2-40B4-BE49-F238E27FC236}">
                  <a16:creationId xmlns:a16="http://schemas.microsoft.com/office/drawing/2014/main" id="{250A6A40-4C48-4185-9213-552372AE9F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3161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46" name="AutoShape 30">
              <a:extLst>
                <a:ext uri="{FF2B5EF4-FFF2-40B4-BE49-F238E27FC236}">
                  <a16:creationId xmlns:a16="http://schemas.microsoft.com/office/drawing/2014/main" id="{214B9A85-5F30-49FC-99AC-E7AED4947B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3067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47" name="Text Box 31">
              <a:extLst>
                <a:ext uri="{FF2B5EF4-FFF2-40B4-BE49-F238E27FC236}">
                  <a16:creationId xmlns:a16="http://schemas.microsoft.com/office/drawing/2014/main" id="{C52F8F41-98F6-429F-95D7-7037E7DE0F2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90" y="3206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树模型的应用</a:t>
              </a:r>
            </a:p>
          </p:txBody>
        </p:sp>
        <p:sp>
          <p:nvSpPr>
            <p:cNvPr id="18448" name="Text Box 32">
              <a:extLst>
                <a:ext uri="{FF2B5EF4-FFF2-40B4-BE49-F238E27FC236}">
                  <a16:creationId xmlns:a16="http://schemas.microsoft.com/office/drawing/2014/main" id="{203A8A38-74EE-4108-AC1C-C0933063A23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3148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  <p:sp>
          <p:nvSpPr>
            <p:cNvPr id="18449" name="AutoShape 19">
              <a:extLst>
                <a:ext uri="{FF2B5EF4-FFF2-40B4-BE49-F238E27FC236}">
                  <a16:creationId xmlns:a16="http://schemas.microsoft.com/office/drawing/2014/main" id="{3D9066BF-7001-48E4-8F5C-6CFFDD8CF24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587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50" name="AutoShape 20">
              <a:extLst>
                <a:ext uri="{FF2B5EF4-FFF2-40B4-BE49-F238E27FC236}">
                  <a16:creationId xmlns:a16="http://schemas.microsoft.com/office/drawing/2014/main" id="{5FB8E8C9-205B-46A6-BA94-A6FC2EC552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490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51" name="Text Box 21">
              <a:extLst>
                <a:ext uri="{FF2B5EF4-FFF2-40B4-BE49-F238E27FC236}">
                  <a16:creationId xmlns:a16="http://schemas.microsoft.com/office/drawing/2014/main" id="{BBB07DB5-E0E1-4F97-A177-D7CF6B0375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99" y="2581"/>
              <a:ext cx="216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特殊根树与算法</a:t>
              </a:r>
            </a:p>
          </p:txBody>
        </p:sp>
        <p:sp>
          <p:nvSpPr>
            <p:cNvPr id="18452" name="Text Box 22">
              <a:extLst>
                <a:ext uri="{FF2B5EF4-FFF2-40B4-BE49-F238E27FC236}">
                  <a16:creationId xmlns:a16="http://schemas.microsoft.com/office/drawing/2014/main" id="{DBEB8679-06A7-4CE6-909A-24C5F900035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2570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>
            <a:extLst>
              <a:ext uri="{FF2B5EF4-FFF2-40B4-BE49-F238E27FC236}">
                <a16:creationId xmlns:a16="http://schemas.microsoft.com/office/drawing/2014/main" id="{2F502E9B-6013-488B-B70B-3D7895203EB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75B5C7E-EF11-45B2-866A-3B063C647EEA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页脚占位符 4">
            <a:extLst>
              <a:ext uri="{FF2B5EF4-FFF2-40B4-BE49-F238E27FC236}">
                <a16:creationId xmlns:a16="http://schemas.microsoft.com/office/drawing/2014/main" id="{7AB132A4-A744-4EF6-8CD5-AE520D9B6D1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9460" name="灯片编号占位符 5">
            <a:extLst>
              <a:ext uri="{FF2B5EF4-FFF2-40B4-BE49-F238E27FC236}">
                <a16:creationId xmlns:a16="http://schemas.microsoft.com/office/drawing/2014/main" id="{67D74070-B5CB-4703-9CEE-716F683837D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2B83095-7D69-43C7-81C2-71EA0D93001A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779EAB65-451A-44B8-9483-02D5375D244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特殊根树与算法</a:t>
            </a:r>
          </a:p>
        </p:txBody>
      </p:sp>
      <p:pic>
        <p:nvPicPr>
          <p:cNvPr id="19462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4F7CFD80-ECCC-4CF7-8E2A-C342949F1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724400"/>
            <a:ext cx="137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>
            <a:extLst>
              <a:ext uri="{FF2B5EF4-FFF2-40B4-BE49-F238E27FC236}">
                <a16:creationId xmlns:a16="http://schemas.microsoft.com/office/drawing/2014/main" id="{12DBAE46-FA9C-4BEF-B408-0B13FD1593A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3416776-CC37-46C0-AAF1-D973BB4061AC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页脚占位符 4">
            <a:extLst>
              <a:ext uri="{FF2B5EF4-FFF2-40B4-BE49-F238E27FC236}">
                <a16:creationId xmlns:a16="http://schemas.microsoft.com/office/drawing/2014/main" id="{6AB345B5-4B71-4439-B32A-913DE426734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20484" name="灯片编号占位符 5">
            <a:extLst>
              <a:ext uri="{FF2B5EF4-FFF2-40B4-BE49-F238E27FC236}">
                <a16:creationId xmlns:a16="http://schemas.microsoft.com/office/drawing/2014/main" id="{7F0945C7-3400-415D-B8A4-B08C4766CA2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F820D15-AD94-48C6-9702-D9021911D397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5" name="Text Box 2">
            <a:extLst>
              <a:ext uri="{FF2B5EF4-FFF2-40B4-BE49-F238E27FC236}">
                <a16:creationId xmlns:a16="http://schemas.microsoft.com/office/drawing/2014/main" id="{2E33D097-635B-44E5-B5C0-53F1BB654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特殊根树与算法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BC93FE69-D888-41FB-9381-19527E18A94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51050" y="2492375"/>
            <a:ext cx="5184775" cy="3097213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Clr>
                <a:schemeClr val="accent2"/>
              </a:buClr>
              <a:buFont typeface="Wingdings" panose="05000000000000000000" pitchFamily="2" charset="2"/>
              <a:buChar char="J"/>
            </a:pP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平衡树模型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红黑树模型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B</a:t>
            </a: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树模型</a:t>
            </a:r>
          </a:p>
        </p:txBody>
      </p:sp>
      <p:pic>
        <p:nvPicPr>
          <p:cNvPr id="20487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A0DE574B-B62A-4D91-B0C1-1E52E7369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>
            <a:extLst>
              <a:ext uri="{FF2B5EF4-FFF2-40B4-BE49-F238E27FC236}">
                <a16:creationId xmlns:a16="http://schemas.microsoft.com/office/drawing/2014/main" id="{333C78D4-29A6-4D17-B3F8-FD4AA8227C4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77AB6D-42E7-4F7A-BD28-1A134525112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01DC28B6-7FFE-4492-BFAC-39389CB0A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平衡二叉树</a:t>
            </a:r>
          </a:p>
        </p:txBody>
      </p:sp>
      <p:pic>
        <p:nvPicPr>
          <p:cNvPr id="2150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3CAA397-D55D-4CFE-8A72-9A3A655F8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">
            <a:extLst>
              <a:ext uri="{FF2B5EF4-FFF2-40B4-BE49-F238E27FC236}">
                <a16:creationId xmlns:a16="http://schemas.microsoft.com/office/drawing/2014/main" id="{20728211-B2F2-4C54-B542-370426737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28938"/>
            <a:ext cx="7480300" cy="22479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平衡二叉树是一种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特殊的二叉树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，要求树中任何结点的两棵子树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高度差不能超过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如果插入或者删除一个结点使得高度之差大于 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，就要进行结点之间的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旋转操作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，将二叉树重新维持在一个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平衡状态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>
            <a:extLst>
              <a:ext uri="{FF2B5EF4-FFF2-40B4-BE49-F238E27FC236}">
                <a16:creationId xmlns:a16="http://schemas.microsoft.com/office/drawing/2014/main" id="{646C9697-B42F-4125-9F5C-D7A7EB2CD21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611FF53-56EB-4497-978E-D9F539293DF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2FB692B9-6127-49F5-AB97-20C3D526C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平衡因子</a:t>
            </a:r>
          </a:p>
        </p:txBody>
      </p:sp>
      <p:pic>
        <p:nvPicPr>
          <p:cNvPr id="225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4E15EA4-AE6A-40DF-A04B-78E9675E7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矩形 1">
            <a:extLst>
              <a:ext uri="{FF2B5EF4-FFF2-40B4-BE49-F238E27FC236}">
                <a16:creationId xmlns:a16="http://schemas.microsoft.com/office/drawing/2014/main" id="{2AA57881-938F-43B1-A725-3FC42F3A6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565400"/>
            <a:ext cx="7480300" cy="1816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树模型中某结点左子树的高度减去该结点右子树的高度，所形成的差值称为该结点的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平衡因子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Balance Fector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(BF)=</a:t>
            </a:r>
            <a:r>
              <a:rPr kumimoji="0" lang="zh-CN" altLang="en-US" sz="28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左子树的高度</a:t>
            </a:r>
            <a:r>
              <a:rPr kumimoji="0" lang="en-US" altLang="zh-CN" sz="28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 sz="28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右子树的高度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2534" name="AutoShape 5">
            <a:extLst>
              <a:ext uri="{FF2B5EF4-FFF2-40B4-BE49-F238E27FC236}">
                <a16:creationId xmlns:a16="http://schemas.microsoft.com/office/drawing/2014/main" id="{E175CDA5-12BD-4AD1-8A34-4C23D6680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4791075"/>
            <a:ext cx="7488238" cy="1225550"/>
          </a:xfrm>
          <a:prstGeom prst="horizontalScroll">
            <a:avLst>
              <a:gd name="adj" fmla="val 12500"/>
            </a:avLst>
          </a:prstGeom>
          <a:solidFill>
            <a:srgbClr val="99FFCC"/>
          </a:solidFill>
          <a:ln w="9525">
            <a:solidFill>
              <a:srgbClr val="00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buClr>
                <a:schemeClr val="bg1"/>
              </a:buCl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文本框 2">
            <a:extLst>
              <a:ext uri="{FF2B5EF4-FFF2-40B4-BE49-F238E27FC236}">
                <a16:creationId xmlns:a16="http://schemas.microsoft.com/office/drawing/2014/main" id="{CA71F981-0457-42C4-B101-A6E733F1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3" y="4987925"/>
            <a:ext cx="7273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0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平衡二叉树的平衡因子为</a:t>
            </a:r>
            <a:r>
              <a:rPr kumimoji="0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-1</a:t>
            </a:r>
            <a:r>
              <a:rPr kumimoji="0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 </a:t>
            </a:r>
            <a:r>
              <a:rPr kumimoji="0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kumimoji="0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或 </a:t>
            </a:r>
            <a:r>
              <a:rPr kumimoji="0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0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 设计平衡二叉树操作算法的关键在于如何使得平衡二叉树保持平衡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>
            <a:extLst>
              <a:ext uri="{FF2B5EF4-FFF2-40B4-BE49-F238E27FC236}">
                <a16:creationId xmlns:a16="http://schemas.microsoft.com/office/drawing/2014/main" id="{12B7CC1B-6B6E-4E43-9F53-8C5C7A59B0D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051F51-4084-4376-ADF3-B228DCEFC8B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5" name="Text Box 2">
            <a:extLst>
              <a:ext uri="{FF2B5EF4-FFF2-40B4-BE49-F238E27FC236}">
                <a16:creationId xmlns:a16="http://schemas.microsoft.com/office/drawing/2014/main" id="{D93AEA50-3001-439D-A821-5E1EA129A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不平衡情况</a:t>
            </a:r>
          </a:p>
        </p:txBody>
      </p:sp>
      <p:pic>
        <p:nvPicPr>
          <p:cNvPr id="2355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254C095-FBA1-4098-BA4E-3AD5941C9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矩形 1">
            <a:extLst>
              <a:ext uri="{FF2B5EF4-FFF2-40B4-BE49-F238E27FC236}">
                <a16:creationId xmlns:a16="http://schemas.microsoft.com/office/drawing/2014/main" id="{2F3464E3-5B39-435C-9ECB-4A359217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8424863" cy="2862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以下</a:t>
            </a:r>
            <a:r>
              <a:rPr kumimoji="0"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四种情况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下的插入操作可能会导致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原有平衡二叉树发生不平衡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kumimoji="0" lang="en-US" altLang="zh-CN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： 若某一节点的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平衡因子为 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，当在其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左子树的左子树上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插入一个新结点时会导致该结点的平衡因子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 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变为 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kumimoji="0" lang="en-US" altLang="zh-CN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RR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： 若某一节点的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平衡因子为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，当在其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右子树的右子树上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插入一个新结点时会导致该结点的平衡因子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变为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kumimoji="0" lang="en-US" altLang="zh-CN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LR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： 若某一节点的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平衡因子为 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，当在其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左子树的右子树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上插入一个新结点时会导致该结点的平衡因子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 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变为 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kumimoji="0" lang="en-US" altLang="zh-CN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RL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： 若某一节点的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平衡因子为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，当在其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右子树的左子树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上插入一个新结点时会导致该结点的平衡因子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kumimoji="0"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变为</a:t>
            </a:r>
            <a:r>
              <a:rPr kumimoji="0"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3558" name="矩形 7">
            <a:extLst>
              <a:ext uri="{FF2B5EF4-FFF2-40B4-BE49-F238E27FC236}">
                <a16:creationId xmlns:a16="http://schemas.microsoft.com/office/drawing/2014/main" id="{751333FE-3FC2-4F40-9A3B-D8C6E27F0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5108575"/>
            <a:ext cx="8455025" cy="10160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平衡二叉树有</a:t>
            </a:r>
            <a:r>
              <a:rPr kumimoji="0"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四种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基本的旋转方式，分别为：</a:t>
            </a:r>
            <a:r>
              <a:rPr kumimoji="0"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左旋转，右旋转，先左后右旋转，先右后左旋转。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针对上述四种情况可能导致的不平衡，可通过旋转的方式使得平衡二叉树恢复平衡。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>
            <a:extLst>
              <a:ext uri="{FF2B5EF4-FFF2-40B4-BE49-F238E27FC236}">
                <a16:creationId xmlns:a16="http://schemas.microsoft.com/office/drawing/2014/main" id="{D762AA24-81D9-455F-8532-24ECF6A317C2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342DE5-BAE8-4B23-AD62-79B5200446A3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3062D81B-AB85-483E-BAF7-2F0C72A08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LL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型调整</a:t>
            </a:r>
          </a:p>
        </p:txBody>
      </p:sp>
      <p:pic>
        <p:nvPicPr>
          <p:cNvPr id="24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ECC968C-D285-4DA2-89A8-1A81213AA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C62E0D5-C2FA-4A13-BAE5-445E1DB6CF1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536" y="1779353"/>
            <a:ext cx="8280275" cy="1938992"/>
          </a:xfrm>
          <a:prstGeom prst="rect">
            <a:avLst/>
          </a:prstGeom>
          <a:blipFill>
            <a:blip r:embed="rId4"/>
            <a:stretch>
              <a:fillRect l="-810" t="-1887" b="-408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24582" name="图片 4">
            <a:extLst>
              <a:ext uri="{FF2B5EF4-FFF2-40B4-BE49-F238E27FC236}">
                <a16:creationId xmlns:a16="http://schemas.microsoft.com/office/drawing/2014/main" id="{7DEE87C2-D38E-49A1-A33E-47AB47F92A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3717925"/>
            <a:ext cx="50387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>
            <a:extLst>
              <a:ext uri="{FF2B5EF4-FFF2-40B4-BE49-F238E27FC236}">
                <a16:creationId xmlns:a16="http://schemas.microsoft.com/office/drawing/2014/main" id="{4CE8A542-F46C-4A76-97A4-F1F52AF5F36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F99930-C03B-4FA0-A251-8DC1BE3B50E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780520D2-9BD1-427A-A8FD-2D379620E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RR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型调整</a:t>
            </a:r>
          </a:p>
        </p:txBody>
      </p:sp>
      <p:pic>
        <p:nvPicPr>
          <p:cNvPr id="256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A7785F2-22FF-4B1D-8BBF-801E227B4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DF93AA-D576-420C-8B55-7F1CC1A7FD0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9552" y="1706639"/>
            <a:ext cx="8280920" cy="1938992"/>
          </a:xfrm>
          <a:prstGeom prst="rect">
            <a:avLst/>
          </a:prstGeom>
          <a:blipFill>
            <a:blip r:embed="rId4"/>
            <a:stretch>
              <a:fillRect l="-810" t="-1887" b="-408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25606" name="图片 2">
            <a:extLst>
              <a:ext uri="{FF2B5EF4-FFF2-40B4-BE49-F238E27FC236}">
                <a16:creationId xmlns:a16="http://schemas.microsoft.com/office/drawing/2014/main" id="{2C21FB7B-148F-496E-B2FD-822B2CAFE8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644900"/>
            <a:ext cx="4648200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>
            <a:extLst>
              <a:ext uri="{FF2B5EF4-FFF2-40B4-BE49-F238E27FC236}">
                <a16:creationId xmlns:a16="http://schemas.microsoft.com/office/drawing/2014/main" id="{A8AFDFD1-2AC7-4D97-8403-0E7337B4257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5234D2E-DF58-47BD-89D0-764A8A9D457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9050D5BB-6BC4-41C1-AF60-35900B184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LR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型调整</a:t>
            </a:r>
          </a:p>
        </p:txBody>
      </p:sp>
      <p:pic>
        <p:nvPicPr>
          <p:cNvPr id="2662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EFF1E0B-3701-4250-AAFD-C817AE5A3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F9530F9-CFBA-458A-BB3F-B3EE575E0B5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528" y="2091253"/>
            <a:ext cx="8280920" cy="3785652"/>
          </a:xfrm>
          <a:prstGeom prst="rect">
            <a:avLst/>
          </a:prstGeom>
          <a:blipFill>
            <a:blip r:embed="rId4"/>
            <a:stretch>
              <a:fillRect l="-736" t="-805" b="-161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>
            <a:extLst>
              <a:ext uri="{FF2B5EF4-FFF2-40B4-BE49-F238E27FC236}">
                <a16:creationId xmlns:a16="http://schemas.microsoft.com/office/drawing/2014/main" id="{3162B8DB-3FF4-4362-B25D-8244E287ADD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C89582-7C53-42E2-9145-ADBF49FA090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12A6E7CF-5130-4216-B028-7CE74C392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LR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型调整</a:t>
            </a:r>
          </a:p>
        </p:txBody>
      </p:sp>
      <p:pic>
        <p:nvPicPr>
          <p:cNvPr id="276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409A7D2-0ABC-4C9E-AFF0-53B73816E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图片 2">
            <a:extLst>
              <a:ext uri="{FF2B5EF4-FFF2-40B4-BE49-F238E27FC236}">
                <a16:creationId xmlns:a16="http://schemas.microsoft.com/office/drawing/2014/main" id="{C421AF36-B91A-433B-ABC8-FFC2A1582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419350"/>
            <a:ext cx="74199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>
            <a:extLst>
              <a:ext uri="{FF2B5EF4-FFF2-40B4-BE49-F238E27FC236}">
                <a16:creationId xmlns:a16="http://schemas.microsoft.com/office/drawing/2014/main" id="{851CACDD-7D33-4C3B-A58D-369A00DA11D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76B16BF-B396-425E-886A-424C1B3C132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95B726CF-D07A-47F6-BE83-AD5D88180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RL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型调整</a:t>
            </a:r>
          </a:p>
        </p:txBody>
      </p:sp>
      <p:pic>
        <p:nvPicPr>
          <p:cNvPr id="2867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3858E2D-81F8-4DFD-B938-D2DAD6B97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C403701-E0D4-4E5E-A7BB-0346DC05849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843" y="2091253"/>
            <a:ext cx="8280920" cy="3785652"/>
          </a:xfrm>
          <a:prstGeom prst="rect">
            <a:avLst/>
          </a:prstGeom>
          <a:blipFill>
            <a:blip r:embed="rId4"/>
            <a:stretch>
              <a:fillRect l="-736" t="-805" b="-161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644E14D6-88E1-496E-BE1C-81A0277ABD7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5BB6A12-9883-4F42-96CB-E9D650F3166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8EFC0F2D-AAA9-48F6-A40C-BCDB8D9B6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RL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型调整</a:t>
            </a:r>
          </a:p>
        </p:txBody>
      </p:sp>
      <p:pic>
        <p:nvPicPr>
          <p:cNvPr id="29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28CC40E-81F0-464B-9D07-CCA526B7A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图片 1">
            <a:extLst>
              <a:ext uri="{FF2B5EF4-FFF2-40B4-BE49-F238E27FC236}">
                <a16:creationId xmlns:a16="http://schemas.microsoft.com/office/drawing/2014/main" id="{7FF5FE3E-2C6C-47AE-885A-34E4FF74B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493963"/>
            <a:ext cx="7791450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1">
            <a:extLst>
              <a:ext uri="{FF2B5EF4-FFF2-40B4-BE49-F238E27FC236}">
                <a16:creationId xmlns:a16="http://schemas.microsoft.com/office/drawing/2014/main" id="{8A08FE27-6293-40AD-89D8-0DC441C295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51EFA9-7068-4319-A0EB-044F251298D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5651" name="矩形 3">
            <a:extLst>
              <a:ext uri="{FF2B5EF4-FFF2-40B4-BE49-F238E27FC236}">
                <a16:creationId xmlns:a16="http://schemas.microsoft.com/office/drawing/2014/main" id="{F556B784-F5EC-40E6-8B54-71FB9EE62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05038"/>
            <a:ext cx="8280400" cy="34163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在上述四种旋转基础上，就可对平衡二叉树进行插入和删除操作，具体如下：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插入操作</a:t>
            </a: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：插入完成后需要从插入的结点开始维护一个到根结点的路径，每经过一个结点都要维持树的平衡，需要根据高度差的特点采取不同的旋转策略进行调整，使整棵树恢复成为平衡树。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删除操作</a:t>
            </a:r>
            <a:r>
              <a:rPr kumimoji="0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：首先定位要删除的结点， 删除完成后，要从删除结点的父亲开始向上维护树的平衡一直到根结点， 然后采取不同的旋转策略调整，使整棵树恢复成为平衡树。</a:t>
            </a:r>
          </a:p>
        </p:txBody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BDF715C4-7B1B-4830-A0BB-C8AFC2E77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插入删除操作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>
            <a:extLst>
              <a:ext uri="{FF2B5EF4-FFF2-40B4-BE49-F238E27FC236}">
                <a16:creationId xmlns:a16="http://schemas.microsoft.com/office/drawing/2014/main" id="{C3224669-A428-4414-BE92-58C8A3D5733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058254-8943-4ADD-995B-971AF354550A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页脚占位符 4">
            <a:extLst>
              <a:ext uri="{FF2B5EF4-FFF2-40B4-BE49-F238E27FC236}">
                <a16:creationId xmlns:a16="http://schemas.microsoft.com/office/drawing/2014/main" id="{1DD17D94-02D2-4729-AD9D-6384F6F3F2F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1748" name="灯片编号占位符 5">
            <a:extLst>
              <a:ext uri="{FF2B5EF4-FFF2-40B4-BE49-F238E27FC236}">
                <a16:creationId xmlns:a16="http://schemas.microsoft.com/office/drawing/2014/main" id="{772BC93E-785A-414F-AC62-96F643E1027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A916F44-652A-420B-A725-93E7C8C6DBA6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9" name="Text Box 2">
            <a:extLst>
              <a:ext uri="{FF2B5EF4-FFF2-40B4-BE49-F238E27FC236}">
                <a16:creationId xmlns:a16="http://schemas.microsoft.com/office/drawing/2014/main" id="{C03FFB0A-6CFC-47D5-AA62-C13DB7ABD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特殊根树与算法</a:t>
            </a:r>
          </a:p>
        </p:txBody>
      </p:sp>
      <p:sp>
        <p:nvSpPr>
          <p:cNvPr id="31750" name="Rectangle 3">
            <a:extLst>
              <a:ext uri="{FF2B5EF4-FFF2-40B4-BE49-F238E27FC236}">
                <a16:creationId xmlns:a16="http://schemas.microsoft.com/office/drawing/2014/main" id="{629E8AD4-FA00-4ECB-9AA6-FD123FDCFD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92275" y="2492375"/>
            <a:ext cx="5761038" cy="36734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平衡树模型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红黑树模型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B</a:t>
            </a: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树模型</a:t>
            </a:r>
          </a:p>
        </p:txBody>
      </p:sp>
      <p:pic>
        <p:nvPicPr>
          <p:cNvPr id="31751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377CDD8D-C6D7-47B9-B24A-E2A3E2339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>
            <a:extLst>
              <a:ext uri="{FF2B5EF4-FFF2-40B4-BE49-F238E27FC236}">
                <a16:creationId xmlns:a16="http://schemas.microsoft.com/office/drawing/2014/main" id="{8C7E7582-6F57-484A-A3E9-FE891DE3AF7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DB79B1E-94DB-4FAE-95D7-0A8913DCF85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1CD781DB-8F6A-4577-8CCB-D762F5CF7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红黑树</a:t>
            </a:r>
          </a:p>
        </p:txBody>
      </p:sp>
      <p:pic>
        <p:nvPicPr>
          <p:cNvPr id="32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4478D52-D782-41E6-B177-4DF4ECCDD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矩形 1">
            <a:extLst>
              <a:ext uri="{FF2B5EF4-FFF2-40B4-BE49-F238E27FC236}">
                <a16:creationId xmlns:a16="http://schemas.microsoft.com/office/drawing/2014/main" id="{3A528913-169E-4958-AB65-40C2A569D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63750"/>
            <a:ext cx="7705725" cy="4154488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红黑树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是一种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自平衡二叉查找树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。与其他二叉查找树的不同，红黑树在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每个结点上增加一个存储位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来表示结点的颜色，可以是红色或黑色，通过自动控制红色和黑色这两种颜色的结点分布，以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保证树的高度达到近似平衡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，从而能够得到比较高的算法效率。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一棵红黑树需要满足以下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五条性质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）每个结点是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红色或者是黑色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；（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根结点是黑色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；（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）每个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叶结点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，即空结点（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NIL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是黑色的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；（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）如果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一个结点是红色，那么它的两个子结点都是黑色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；（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）对每个结点，从该结点到其所有后代叶结点的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所有路径上包含相同数目的黑结点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>
            <a:extLst>
              <a:ext uri="{FF2B5EF4-FFF2-40B4-BE49-F238E27FC236}">
                <a16:creationId xmlns:a16="http://schemas.microsoft.com/office/drawing/2014/main" id="{E5CC2C44-26B5-4493-A61C-FFCAE854952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77CFFB-9391-4437-8640-BBBE2D788EE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03EF07D6-02E0-40F7-800E-27F63A9FF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插入操作</a:t>
            </a:r>
          </a:p>
        </p:txBody>
      </p:sp>
      <p:pic>
        <p:nvPicPr>
          <p:cNvPr id="337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AB2FCA6-75CE-46F4-8F8A-070F31843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矩形 1">
            <a:extLst>
              <a:ext uri="{FF2B5EF4-FFF2-40B4-BE49-F238E27FC236}">
                <a16:creationId xmlns:a16="http://schemas.microsoft.com/office/drawing/2014/main" id="{F03C5094-C66E-4F1A-8B47-A5E07D430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7480300" cy="1816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插入操作主要为以下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基本步骤：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：查找要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插入的位置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新结点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的颜色域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赋值为红色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自下而上重新调整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该树为红黑树；</a:t>
            </a: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>
            <a:extLst>
              <a:ext uri="{FF2B5EF4-FFF2-40B4-BE49-F238E27FC236}">
                <a16:creationId xmlns:a16="http://schemas.microsoft.com/office/drawing/2014/main" id="{3EF08699-DE06-492F-BD67-F2B45AF4B082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8EF8F6-A34A-4B35-97ED-3098E013CFD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A61E4156-5B09-4CA8-A6C5-B166D8AE1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3482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E2D9978-FA1C-448B-9C35-A104F2B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矩形 1">
            <a:extLst>
              <a:ext uri="{FF2B5EF4-FFF2-40B4-BE49-F238E27FC236}">
                <a16:creationId xmlns:a16="http://schemas.microsoft.com/office/drawing/2014/main" id="{669F7F6B-9F1D-441F-830D-1D348728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493963"/>
            <a:ext cx="7480300" cy="31083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具体实现方法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kumimoji="0"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要插入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的结点为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，其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父亲结点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兄弟结点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。考虑以下两类情况：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）如果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是黑色的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，那么整棵树已经是红黑树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不需要再进行调整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）如果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是红色的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，那么插入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后，将与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条性质不符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，这时需要进行旋转调整。具体的调整方法又可以分为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以下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种情况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>
            <a:extLst>
              <a:ext uri="{FF2B5EF4-FFF2-40B4-BE49-F238E27FC236}">
                <a16:creationId xmlns:a16="http://schemas.microsoft.com/office/drawing/2014/main" id="{4DAC9E21-3112-406C-822D-FCA54F4C9EB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92B569-D909-4896-A80E-0D2B7F1A0E2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Text Box 2">
            <a:extLst>
              <a:ext uri="{FF2B5EF4-FFF2-40B4-BE49-F238E27FC236}">
                <a16:creationId xmlns:a16="http://schemas.microsoft.com/office/drawing/2014/main" id="{5C6B89B9-FA44-4123-B892-37BB3C74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3584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41978B4-7C4C-423E-801D-9C321CB9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矩形 1">
            <a:extLst>
              <a:ext uri="{FF2B5EF4-FFF2-40B4-BE49-F238E27FC236}">
                <a16:creationId xmlns:a16="http://schemas.microsoft.com/office/drawing/2014/main" id="{2D9EFDC2-E849-4FC2-A1F3-421CECEDE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66900"/>
            <a:ext cx="8424862" cy="2308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）如图所示，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的叔叔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是红色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（图中使用阴影表示红色），将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的定义为黑色并定义结点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为红色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。此时，插入结点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的父亲结点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为黑色。 因为通过父结点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或结点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的任何路径都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必定通过结点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，而在这些路径上黑色结点的数目没有改变。但是，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的父结点也可能是红色的，因此需要以结点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向上递归调整结点颜色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0"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5846" name="图片 1">
            <a:extLst>
              <a:ext uri="{FF2B5EF4-FFF2-40B4-BE49-F238E27FC236}">
                <a16:creationId xmlns:a16="http://schemas.microsoft.com/office/drawing/2014/main" id="{A89EC00C-0363-494A-BFEA-903F5BCED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4148138"/>
            <a:ext cx="3878263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>
            <a:extLst>
              <a:ext uri="{FF2B5EF4-FFF2-40B4-BE49-F238E27FC236}">
                <a16:creationId xmlns:a16="http://schemas.microsoft.com/office/drawing/2014/main" id="{E396B754-5125-4DA9-9949-7646026A857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F1A912E-AF0B-4413-AA50-43D77D29AB29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7E0D67FE-4C6D-445E-A269-8E4340AB5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3686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353ECCB-361B-41B4-9A25-B441DF7B8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矩形 1">
            <a:extLst>
              <a:ext uri="{FF2B5EF4-FFF2-40B4-BE49-F238E27FC236}">
                <a16:creationId xmlns:a16="http://schemas.microsoft.com/office/drawing/2014/main" id="{D2EBD87F-F027-48C1-AFD8-3DFBE6AC0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514600"/>
            <a:ext cx="8424862" cy="83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）如图所示，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叔叔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是黑色的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是右孩子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，此时对结点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进行一次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左旋转调换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 然后按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情形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的方法处理。</a:t>
            </a:r>
            <a:endParaRPr kumimoji="0"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6870" name="图片 2">
            <a:extLst>
              <a:ext uri="{FF2B5EF4-FFF2-40B4-BE49-F238E27FC236}">
                <a16:creationId xmlns:a16="http://schemas.microsoft.com/office/drawing/2014/main" id="{11E46C30-5D20-4D58-B5AC-BD60DDBD4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3" y="3344863"/>
            <a:ext cx="434340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>
            <a:extLst>
              <a:ext uri="{FF2B5EF4-FFF2-40B4-BE49-F238E27FC236}">
                <a16:creationId xmlns:a16="http://schemas.microsoft.com/office/drawing/2014/main" id="{7EBBFFEC-6540-458A-806D-338A29E9DC8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00F5708-BE9D-4E6D-B76B-19E9A46F0830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1" name="Text Box 2">
            <a:extLst>
              <a:ext uri="{FF2B5EF4-FFF2-40B4-BE49-F238E27FC236}">
                <a16:creationId xmlns:a16="http://schemas.microsoft.com/office/drawing/2014/main" id="{07B59219-CC4F-45BF-947A-5B632F82C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3789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35BC4A6-802C-4758-83B1-6085DB22A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矩形 1">
            <a:extLst>
              <a:ext uri="{FF2B5EF4-FFF2-40B4-BE49-F238E27FC236}">
                <a16:creationId xmlns:a16="http://schemas.microsoft.com/office/drawing/2014/main" id="{158D4A1B-BDF1-4A3E-ACCA-66ED823F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38363"/>
            <a:ext cx="8424862" cy="1570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3)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如图所示，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叔叔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是黑色的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是左孩子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，此时需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做一次右旋转调换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，使得在变换后的树中结点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是新结点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的父结点，然后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调换之前的结点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的颜色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，使之满足第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和第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条性质。</a:t>
            </a:r>
            <a:endParaRPr kumimoji="0"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894" name="图片 1">
            <a:extLst>
              <a:ext uri="{FF2B5EF4-FFF2-40B4-BE49-F238E27FC236}">
                <a16:creationId xmlns:a16="http://schemas.microsoft.com/office/drawing/2014/main" id="{89D5EEE1-88D3-46FA-8FCE-A79A4CA90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708400"/>
            <a:ext cx="4679950" cy="239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>
            <a:extLst>
              <a:ext uri="{FF2B5EF4-FFF2-40B4-BE49-F238E27FC236}">
                <a16:creationId xmlns:a16="http://schemas.microsoft.com/office/drawing/2014/main" id="{FD31D6D4-F06D-4F4E-A9C0-677D6E9AA8F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6C7A3C7-1D98-4DEA-AC25-772EC5157D0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E57278BE-A888-48D4-9789-C2244E73D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3891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0B86834-7C99-4FE1-8B3C-BFB45803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矩形 1">
            <a:extLst>
              <a:ext uri="{FF2B5EF4-FFF2-40B4-BE49-F238E27FC236}">
                <a16:creationId xmlns:a16="http://schemas.microsoft.com/office/drawing/2014/main" id="{52E5A43D-9902-453B-8486-0A3523D21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014663"/>
            <a:ext cx="7323137" cy="1938337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红黑树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删除操作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分为以下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三个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基本步骤：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查找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要删除结点的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用其后继替换该结点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替换结点为黑色，则需重新调整树模型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使其重新成为红黑树。</a:t>
            </a: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>
            <a:extLst>
              <a:ext uri="{FF2B5EF4-FFF2-40B4-BE49-F238E27FC236}">
                <a16:creationId xmlns:a16="http://schemas.microsoft.com/office/drawing/2014/main" id="{19042A52-00C4-4782-8C4F-8AFF41704A8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FAE2275-50C8-468F-A2B7-41246EDFF99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39" name="Text Box 2">
            <a:extLst>
              <a:ext uri="{FF2B5EF4-FFF2-40B4-BE49-F238E27FC236}">
                <a16:creationId xmlns:a16="http://schemas.microsoft.com/office/drawing/2014/main" id="{13E7B13E-5E33-4CA6-AA16-4CA6DF959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3994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55A8CE4-516E-4CB5-BAB9-32E74AB9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矩形 1">
            <a:extLst>
              <a:ext uri="{FF2B5EF4-FFF2-40B4-BE49-F238E27FC236}">
                <a16:creationId xmlns:a16="http://schemas.microsoft.com/office/drawing/2014/main" id="{C1671ED9-0CAF-4B15-AD10-3BD893648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3068638"/>
            <a:ext cx="7323138" cy="1570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的具体实现分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四种情况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分别处理：</a:t>
            </a:r>
            <a:endParaRPr kumimoji="0"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设被删除的结点为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，其父结点为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，其兄弟结点为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。由于结点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是黑色的，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则结点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都有可能是黑色或红色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>
            <a:extLst>
              <a:ext uri="{FF2B5EF4-FFF2-40B4-BE49-F238E27FC236}">
                <a16:creationId xmlns:a16="http://schemas.microsoft.com/office/drawing/2014/main" id="{906ECF95-735D-4D2A-A563-2256C238591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C1FF65-1CFD-445B-A432-21C335AE130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63" name="Text Box 2">
            <a:extLst>
              <a:ext uri="{FF2B5EF4-FFF2-40B4-BE49-F238E27FC236}">
                <a16:creationId xmlns:a16="http://schemas.microsoft.com/office/drawing/2014/main" id="{B3B39313-98FE-44E4-9C77-785C0B2F3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4096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4C23118-F4C6-420C-9955-F6872B80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矩形 1">
            <a:extLst>
              <a:ext uri="{FF2B5EF4-FFF2-40B4-BE49-F238E27FC236}">
                <a16:creationId xmlns:a16="http://schemas.microsoft.com/office/drawing/2014/main" id="{CDC27744-CDF6-4D09-89C5-18C4A46D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2133600"/>
            <a:ext cx="7440612" cy="156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是红色的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。此时结点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肯定是黑色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。对结点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的父结点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做左旋转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，然后把红色兄弟结点转换成结点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的祖父。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接着转换结点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的父亲和祖父的颜色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 接下去按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第二、第三或第四种情况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来处理，如图所示。</a:t>
            </a:r>
          </a:p>
        </p:txBody>
      </p:sp>
      <p:pic>
        <p:nvPicPr>
          <p:cNvPr id="40966" name="图片 1">
            <a:extLst>
              <a:ext uri="{FF2B5EF4-FFF2-40B4-BE49-F238E27FC236}">
                <a16:creationId xmlns:a16="http://schemas.microsoft.com/office/drawing/2014/main" id="{BA2B68CD-0EF5-4CBE-B8B0-C69A62CE5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694113"/>
            <a:ext cx="3921125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>
            <a:extLst>
              <a:ext uri="{FF2B5EF4-FFF2-40B4-BE49-F238E27FC236}">
                <a16:creationId xmlns:a16="http://schemas.microsoft.com/office/drawing/2014/main" id="{4DDADB8B-1424-445E-940B-E163C9970AD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C131688-6AB2-44B7-8C7F-0D12A476545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87" name="Text Box 2">
            <a:extLst>
              <a:ext uri="{FF2B5EF4-FFF2-40B4-BE49-F238E27FC236}">
                <a16:creationId xmlns:a16="http://schemas.microsoft.com/office/drawing/2014/main" id="{EF1A0DF2-F438-4C54-892A-B84D04834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4198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DCA387D-5F6C-4AED-A392-169F8A74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矩形 1">
            <a:extLst>
              <a:ext uri="{FF2B5EF4-FFF2-40B4-BE49-F238E27FC236}">
                <a16:creationId xmlns:a16="http://schemas.microsoft.com/office/drawing/2014/main" id="{775EEF67-22B1-4909-8D53-B36E714CA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041525"/>
            <a:ext cx="7442200" cy="1570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 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及其的孩子全是黑色的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。这种情况下，结点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可能是黑色也可能是红色的。此时，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首先把结点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赋值为红色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。然后要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调整以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作为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递归调整树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，如图所示。</a:t>
            </a:r>
          </a:p>
        </p:txBody>
      </p:sp>
      <p:pic>
        <p:nvPicPr>
          <p:cNvPr id="41990" name="图片 2">
            <a:extLst>
              <a:ext uri="{FF2B5EF4-FFF2-40B4-BE49-F238E27FC236}">
                <a16:creationId xmlns:a16="http://schemas.microsoft.com/office/drawing/2014/main" id="{042AF04E-5C59-4F05-97DC-111921D9E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88" y="3582988"/>
            <a:ext cx="393382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>
            <a:extLst>
              <a:ext uri="{FF2B5EF4-FFF2-40B4-BE49-F238E27FC236}">
                <a16:creationId xmlns:a16="http://schemas.microsoft.com/office/drawing/2014/main" id="{42754237-3677-4DD6-A58B-1475A101F56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7CDA7F-ACD5-49EF-860F-4794FBDCEDE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Text Box 2">
            <a:extLst>
              <a:ext uri="{FF2B5EF4-FFF2-40B4-BE49-F238E27FC236}">
                <a16:creationId xmlns:a16="http://schemas.microsoft.com/office/drawing/2014/main" id="{0F77341A-149B-40B5-B020-D2613FB5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430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8A55F3A-DC89-4A7F-A024-9435B668A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矩形 1">
            <a:extLst>
              <a:ext uri="{FF2B5EF4-FFF2-40B4-BE49-F238E27FC236}">
                <a16:creationId xmlns:a16="http://schemas.microsoft.com/office/drawing/2014/main" id="{058DCDB3-2B77-4C39-AE6F-1A9BEB8FE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44675"/>
            <a:ext cx="7442200" cy="193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是黑色的，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的左孩子是红色，右孩子是黑色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。这种情况下，对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做右旋转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，这样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的左孩子就成为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的父亲和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的新兄弟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。这样就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将问题转化到第四种情况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。此时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和它的父结点都不受这个变换的影响，如图所示。</a:t>
            </a:r>
          </a:p>
        </p:txBody>
      </p:sp>
      <p:pic>
        <p:nvPicPr>
          <p:cNvPr id="43014" name="图片 1">
            <a:extLst>
              <a:ext uri="{FF2B5EF4-FFF2-40B4-BE49-F238E27FC236}">
                <a16:creationId xmlns:a16="http://schemas.microsoft.com/office/drawing/2014/main" id="{00061040-F8D0-4DE8-8034-D6A3E9819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863" y="3784600"/>
            <a:ext cx="36766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>
            <a:extLst>
              <a:ext uri="{FF2B5EF4-FFF2-40B4-BE49-F238E27FC236}">
                <a16:creationId xmlns:a16="http://schemas.microsoft.com/office/drawing/2014/main" id="{E1BEF37B-E2D9-40A4-A287-468B30F6A8E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7AA77D-B150-42F3-80D3-3B807CED7EE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D0CF6523-3D34-489C-95AA-599B59489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具体实现</a:t>
            </a:r>
          </a:p>
        </p:txBody>
      </p:sp>
      <p:pic>
        <p:nvPicPr>
          <p:cNvPr id="4403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3A00E48-96CB-40D0-B45A-34DCA27A1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矩形 1">
            <a:extLst>
              <a:ext uri="{FF2B5EF4-FFF2-40B4-BE49-F238E27FC236}">
                <a16:creationId xmlns:a16="http://schemas.microsoft.com/office/drawing/2014/main" id="{E7A9997E-2CEE-4E2A-9A10-B02AF6597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1970088"/>
            <a:ext cx="7704137" cy="1631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en-US" altLang="zh-CN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是黑色的，</a:t>
            </a:r>
            <a:r>
              <a:rPr kumimoji="0" lang="en-US" altLang="zh-CN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的右孩子是红色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。这种情况下，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0" lang="en-US" altLang="zh-CN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的父结点做左旋转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，这样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成为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的父结点和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右儿子父结点。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接着交换</a:t>
            </a:r>
            <a:r>
              <a:rPr kumimoji="0" lang="en-US" altLang="zh-CN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的父结点和</a:t>
            </a:r>
            <a:r>
              <a:rPr kumimoji="0" lang="en-US" altLang="zh-CN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的颜色，并使</a:t>
            </a:r>
            <a:r>
              <a:rPr kumimoji="0" lang="en-US" altLang="zh-CN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的右儿子为黑色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。此时，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增加了一个黑色祖先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要么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的父结点变成黑色，要么它是黑色而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增加了一个黑色祖父。所以，通过</a:t>
            </a:r>
            <a:r>
              <a:rPr kumimoji="0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的路径都增加了一个黑色结点，如图所示。</a:t>
            </a:r>
          </a:p>
        </p:txBody>
      </p:sp>
      <p:pic>
        <p:nvPicPr>
          <p:cNvPr id="44038" name="图片 2">
            <a:extLst>
              <a:ext uri="{FF2B5EF4-FFF2-40B4-BE49-F238E27FC236}">
                <a16:creationId xmlns:a16="http://schemas.microsoft.com/office/drawing/2014/main" id="{25566A04-66C1-4312-82AD-041074DB1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3602038"/>
            <a:ext cx="384810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>
            <a:extLst>
              <a:ext uri="{FF2B5EF4-FFF2-40B4-BE49-F238E27FC236}">
                <a16:creationId xmlns:a16="http://schemas.microsoft.com/office/drawing/2014/main" id="{E8DFCBB5-3329-46C9-84DC-DFF9E8132BB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36ED756-A6D4-4E2E-8267-0ACF396B3099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页脚占位符 4">
            <a:extLst>
              <a:ext uri="{FF2B5EF4-FFF2-40B4-BE49-F238E27FC236}">
                <a16:creationId xmlns:a16="http://schemas.microsoft.com/office/drawing/2014/main" id="{15944CDC-97F9-46EB-81EF-5CFAB7F79E6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45060" name="灯片编号占位符 5">
            <a:extLst>
              <a:ext uri="{FF2B5EF4-FFF2-40B4-BE49-F238E27FC236}">
                <a16:creationId xmlns:a16="http://schemas.microsoft.com/office/drawing/2014/main" id="{318C1FA5-7B82-4DC8-A50C-5B1F06C0C5F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529754A-5461-4B72-8A8F-1EFAC38AFA5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1" name="Text Box 2">
            <a:extLst>
              <a:ext uri="{FF2B5EF4-FFF2-40B4-BE49-F238E27FC236}">
                <a16:creationId xmlns:a16="http://schemas.microsoft.com/office/drawing/2014/main" id="{8D6937F4-8831-417C-9AF5-02228A3A9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特殊根树与算法</a:t>
            </a: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74B80A75-A85E-41D9-A67A-8F852C1F78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92275" y="2492375"/>
            <a:ext cx="5761038" cy="36734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平衡树模型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红黑树模型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en-US" altLang="zh-CN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B</a:t>
            </a: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树模型</a:t>
            </a:r>
          </a:p>
        </p:txBody>
      </p:sp>
      <p:pic>
        <p:nvPicPr>
          <p:cNvPr id="45063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95F7D454-821D-4132-B711-1B7B75F03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>
            <a:extLst>
              <a:ext uri="{FF2B5EF4-FFF2-40B4-BE49-F238E27FC236}">
                <a16:creationId xmlns:a16="http://schemas.microsoft.com/office/drawing/2014/main" id="{58E85C33-AE78-461E-A177-6440695F02A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DF0110-CCA5-4E71-B80A-39ECB2F0507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E448F968-CF8A-4E1C-A8B7-5EC4466EF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</a:p>
        </p:txBody>
      </p:sp>
      <p:pic>
        <p:nvPicPr>
          <p:cNvPr id="4608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CF40A63-493C-452D-94F2-CDE462564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矩形 1">
            <a:extLst>
              <a:ext uri="{FF2B5EF4-FFF2-40B4-BE49-F238E27FC236}">
                <a16:creationId xmlns:a16="http://schemas.microsoft.com/office/drawing/2014/main" id="{D04E1236-8030-4C75-B3E4-E8D327F76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39975"/>
            <a:ext cx="7705725" cy="3416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树中所有结点的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孩子结点数目的最大值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树的阶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，通常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，出于查找效率考虑，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≥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 一棵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一般具有以下性质：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）每个结点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最多有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个分支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，最少分支数要看是否为根结点，若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为根结点，则根结点的分支数至少为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，否则非根结点至少有⌊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m/2⌋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个分支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结点的分支数等于关键字数加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n(k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≤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≤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m)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个分支的结点含有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−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个关键字，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它们按递增顺序排列。 其中，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= 2(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根结点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或⌊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m/2⌋ 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非根结点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>
            <a:extLst>
              <a:ext uri="{FF2B5EF4-FFF2-40B4-BE49-F238E27FC236}">
                <a16:creationId xmlns:a16="http://schemas.microsoft.com/office/drawing/2014/main" id="{94124A4F-7DC0-45F5-9275-470AEF48A9F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5F5628B-CD21-47FF-B65E-1A6BC1EFB9E0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0C0099C1-0EB9-419E-A862-0FD377EAC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</a:p>
        </p:txBody>
      </p:sp>
      <p:pic>
        <p:nvPicPr>
          <p:cNvPr id="4710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51D77FB-7C79-4413-932D-FDDE8E655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701" name="矩形 1">
            <a:extLst>
              <a:ext uri="{FF2B5EF4-FFF2-40B4-BE49-F238E27FC236}">
                <a16:creationId xmlns:a16="http://schemas.microsoft.com/office/drawing/2014/main" id="{617FB2E9-AB04-4155-8D92-CB9F63AB23D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9379" y="2029370"/>
            <a:ext cx="7705725" cy="4154984"/>
          </a:xfrm>
          <a:prstGeom prst="rect">
            <a:avLst/>
          </a:prstGeom>
          <a:blipFill>
            <a:blip r:embed="rId4"/>
            <a:stretch>
              <a:fillRect l="-1266" t="-1175" b="-249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7110" name="图片 1">
            <a:extLst>
              <a:ext uri="{FF2B5EF4-FFF2-40B4-BE49-F238E27FC236}">
                <a16:creationId xmlns:a16="http://schemas.microsoft.com/office/drawing/2014/main" id="{0BB4CA47-209B-4996-B3FA-4C0AA608F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2492375"/>
            <a:ext cx="58023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>
            <a:extLst>
              <a:ext uri="{FF2B5EF4-FFF2-40B4-BE49-F238E27FC236}">
                <a16:creationId xmlns:a16="http://schemas.microsoft.com/office/drawing/2014/main" id="{74F41281-1F82-42E3-8616-5ED3EF981B8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EF2CF77-AEA3-4432-89E5-E9DE9412409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Text Box 2">
            <a:extLst>
              <a:ext uri="{FF2B5EF4-FFF2-40B4-BE49-F238E27FC236}">
                <a16:creationId xmlns:a16="http://schemas.microsoft.com/office/drawing/2014/main" id="{2802D9FC-C5FB-4386-B8E4-184CF1224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pic>
        <p:nvPicPr>
          <p:cNvPr id="481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6FA0A86-7836-4696-973E-D69E4E6B0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矩形 1">
            <a:extLst>
              <a:ext uri="{FF2B5EF4-FFF2-40B4-BE49-F238E27FC236}">
                <a16:creationId xmlns:a16="http://schemas.microsoft.com/office/drawing/2014/main" id="{6D33E82E-856E-4B98-93D8-6D310782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51100"/>
            <a:ext cx="7705725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例如，图表示为一棵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（即树中任一结点至多含有 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个关键字，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棵子树），下面将以该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树为例详细介绍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树的查找、插入、删除操作。</a:t>
            </a:r>
          </a:p>
        </p:txBody>
      </p:sp>
      <p:pic>
        <p:nvPicPr>
          <p:cNvPr id="48134" name="图片 3">
            <a:extLst>
              <a:ext uri="{FF2B5EF4-FFF2-40B4-BE49-F238E27FC236}">
                <a16:creationId xmlns:a16="http://schemas.microsoft.com/office/drawing/2014/main" id="{52C21AA8-0E12-4A77-8130-52776AE43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651250"/>
            <a:ext cx="46767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>
            <a:extLst>
              <a:ext uri="{FF2B5EF4-FFF2-40B4-BE49-F238E27FC236}">
                <a16:creationId xmlns:a16="http://schemas.microsoft.com/office/drawing/2014/main" id="{8CD2C1D5-018C-4C82-9145-1213BA53E7F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497BC05-2271-4B76-A6DD-A18335D2360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5E78467E-9D05-4140-BF02-589B1DB1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查找操作</a:t>
            </a:r>
          </a:p>
        </p:txBody>
      </p:sp>
      <p:pic>
        <p:nvPicPr>
          <p:cNvPr id="4915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F70CE8E-248A-4BFB-A7D8-5267FEC7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85" name="矩形 1">
            <a:extLst>
              <a:ext uri="{FF2B5EF4-FFF2-40B4-BE49-F238E27FC236}">
                <a16:creationId xmlns:a16="http://schemas.microsoft.com/office/drawing/2014/main" id="{E1DAAB18-62B7-4882-B2FC-851948954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767013"/>
            <a:ext cx="7480300" cy="224631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根据</a:t>
            </a:r>
            <a:r>
              <a:rPr kumimoji="0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结点的孩子数做分支界定</a:t>
            </a:r>
            <a:r>
              <a:rPr kumimoji="0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。比较要查找的值与当前值的大小，</a:t>
            </a:r>
            <a:r>
              <a:rPr kumimoji="0" lang="zh-CN" altLang="en-US" sz="2800" dirty="0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若比当前值小则在其左子树，否则在其右子树，递归查找</a:t>
            </a:r>
            <a:r>
              <a:rPr kumimoji="0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，直到找到相等的结点为止，并返回该结点的位置。如果直到叶子结点仍然没有找到则返回</a:t>
            </a:r>
            <a:r>
              <a:rPr kumimoji="0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Null</a:t>
            </a:r>
            <a:r>
              <a:rPr kumimoji="0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>
            <a:extLst>
              <a:ext uri="{FF2B5EF4-FFF2-40B4-BE49-F238E27FC236}">
                <a16:creationId xmlns:a16="http://schemas.microsoft.com/office/drawing/2014/main" id="{70361B56-5FE2-4C53-BFBA-B2228AAA59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895BED-8DD0-4854-B396-657579629DB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C980DD0C-0D09-4A42-AD81-48B7764CF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插入操作</a:t>
            </a:r>
          </a:p>
        </p:txBody>
      </p:sp>
      <p:pic>
        <p:nvPicPr>
          <p:cNvPr id="501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5FD1F3D-2932-4B5F-B5ED-98DBC8029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矩形 1">
            <a:extLst>
              <a:ext uri="{FF2B5EF4-FFF2-40B4-BE49-F238E27FC236}">
                <a16:creationId xmlns:a16="http://schemas.microsoft.com/office/drawing/2014/main" id="{3069E37D-7F50-4522-92CE-A8491DB08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11413"/>
            <a:ext cx="8280400" cy="3416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插入操作后所构成的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新树必须满足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树性质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。对于高度为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树，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新结点一般插在第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。分两种情况讨论具体的插入算法：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）若该结点中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关键字个数小于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m-1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，则直接插入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即可。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）若该结点中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关键字个数等于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m-1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，以中间关键字为界将结点一分为二，产生一个新结点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，并把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中间关键字插入到父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结点中；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重复上述步骤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，直到完成插入过程。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最坏情况是一直分裂到根结点，建立一个新的根结点，此时整个</a:t>
            </a:r>
            <a:r>
              <a:rPr kumimoji="0" lang="en-US" altLang="zh-CN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树增加一层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>
            <a:extLst>
              <a:ext uri="{FF2B5EF4-FFF2-40B4-BE49-F238E27FC236}">
                <a16:creationId xmlns:a16="http://schemas.microsoft.com/office/drawing/2014/main" id="{64F76204-138D-487E-B268-21482FECE78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C34EAF5-1707-43D2-B6CE-6A32246439E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3" name="Text Box 2">
            <a:extLst>
              <a:ext uri="{FF2B5EF4-FFF2-40B4-BE49-F238E27FC236}">
                <a16:creationId xmlns:a16="http://schemas.microsoft.com/office/drawing/2014/main" id="{06E50E73-367A-4304-9BD9-4883A9CF2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举例说明</a:t>
            </a:r>
          </a:p>
        </p:txBody>
      </p:sp>
      <p:pic>
        <p:nvPicPr>
          <p:cNvPr id="512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81B8239-78F5-4C49-BECB-57536515A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矩形 1">
            <a:extLst>
              <a:ext uri="{FF2B5EF4-FFF2-40B4-BE49-F238E27FC236}">
                <a16:creationId xmlns:a16="http://schemas.microsoft.com/office/drawing/2014/main" id="{72E6F9DC-DFBD-4EA6-B3A6-9DEB81196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33600"/>
            <a:ext cx="7480300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插入以下字符到一棵空的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树中（非根结点关键字数小于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个就合并，大于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个就分裂）：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A C G N H E K Q M F W L T Z D P R X Y S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0"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206" name="图片 8">
            <a:extLst>
              <a:ext uri="{FF2B5EF4-FFF2-40B4-BE49-F238E27FC236}">
                <a16:creationId xmlns:a16="http://schemas.microsoft.com/office/drawing/2014/main" id="{88350A14-9D01-42C0-94C5-B5B00262A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4143375"/>
            <a:ext cx="2884488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7" name="图片 9">
            <a:extLst>
              <a:ext uri="{FF2B5EF4-FFF2-40B4-BE49-F238E27FC236}">
                <a16:creationId xmlns:a16="http://schemas.microsoft.com/office/drawing/2014/main" id="{8C12CAC5-2FC1-4B3E-B7AA-2638AE5AC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95725"/>
            <a:ext cx="2265363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>
            <a:extLst>
              <a:ext uri="{FF2B5EF4-FFF2-40B4-BE49-F238E27FC236}">
                <a16:creationId xmlns:a16="http://schemas.microsoft.com/office/drawing/2014/main" id="{72A43B56-DCC6-4911-9800-6D2F17414F7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0872944-8AFE-4A0A-86C0-44BB3787367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7" name="Text Box 2">
            <a:extLst>
              <a:ext uri="{FF2B5EF4-FFF2-40B4-BE49-F238E27FC236}">
                <a16:creationId xmlns:a16="http://schemas.microsoft.com/office/drawing/2014/main" id="{5CB3FE45-5B34-4668-A8CB-5A0AE21D8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举例说明</a:t>
            </a:r>
          </a:p>
        </p:txBody>
      </p:sp>
      <p:pic>
        <p:nvPicPr>
          <p:cNvPr id="5222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A84A647-3844-4563-853A-438152073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图片 1">
            <a:extLst>
              <a:ext uri="{FF2B5EF4-FFF2-40B4-BE49-F238E27FC236}">
                <a16:creationId xmlns:a16="http://schemas.microsoft.com/office/drawing/2014/main" id="{9EA08AC5-A8E3-4A7F-928C-1F679444E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078038"/>
            <a:ext cx="35242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图片 2">
            <a:extLst>
              <a:ext uri="{FF2B5EF4-FFF2-40B4-BE49-F238E27FC236}">
                <a16:creationId xmlns:a16="http://schemas.microsoft.com/office/drawing/2014/main" id="{CA2CA944-43D5-45CC-9E49-6D38745524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3" y="1954213"/>
            <a:ext cx="36195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图片 5">
            <a:extLst>
              <a:ext uri="{FF2B5EF4-FFF2-40B4-BE49-F238E27FC236}">
                <a16:creationId xmlns:a16="http://schemas.microsoft.com/office/drawing/2014/main" id="{8F588023-0160-46CC-8251-BF244CA388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4267200"/>
            <a:ext cx="3694113" cy="19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图片 6">
            <a:extLst>
              <a:ext uri="{FF2B5EF4-FFF2-40B4-BE49-F238E27FC236}">
                <a16:creationId xmlns:a16="http://schemas.microsoft.com/office/drawing/2014/main" id="{B04DA7B5-8B5D-4CD3-AAE8-7B032B8ADD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3" y="4246563"/>
            <a:ext cx="397192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>
            <a:extLst>
              <a:ext uri="{FF2B5EF4-FFF2-40B4-BE49-F238E27FC236}">
                <a16:creationId xmlns:a16="http://schemas.microsoft.com/office/drawing/2014/main" id="{40CD3E29-52A1-4B86-80AA-A3E23AC2C50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BFA2BA4-8608-4CFB-8E2A-23D56399991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4BD1E47D-7627-4F28-8B21-209B91F4C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举例说明</a:t>
            </a:r>
          </a:p>
        </p:txBody>
      </p:sp>
      <p:pic>
        <p:nvPicPr>
          <p:cNvPr id="532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F723BDB-242F-42E9-91D6-051FA009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图片 3">
            <a:extLst>
              <a:ext uri="{FF2B5EF4-FFF2-40B4-BE49-F238E27FC236}">
                <a16:creationId xmlns:a16="http://schemas.microsoft.com/office/drawing/2014/main" id="{7CCF2709-19FF-400A-80D4-AABCBC98D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997200"/>
            <a:ext cx="3760787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图片 4">
            <a:extLst>
              <a:ext uri="{FF2B5EF4-FFF2-40B4-BE49-F238E27FC236}">
                <a16:creationId xmlns:a16="http://schemas.microsoft.com/office/drawing/2014/main" id="{4B03A5AE-B695-46E4-AB52-54047D9EE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35263"/>
            <a:ext cx="402907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>
            <a:extLst>
              <a:ext uri="{FF2B5EF4-FFF2-40B4-BE49-F238E27FC236}">
                <a16:creationId xmlns:a16="http://schemas.microsoft.com/office/drawing/2014/main" id="{98080C7C-C1DB-4A8E-9D94-E1D83AE6C3D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C35C2BD-C2B9-4CA4-830D-78288DC16F6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275" name="Text Box 2">
            <a:extLst>
              <a:ext uri="{FF2B5EF4-FFF2-40B4-BE49-F238E27FC236}">
                <a16:creationId xmlns:a16="http://schemas.microsoft.com/office/drawing/2014/main" id="{43C955A9-E7BB-4CAF-8E9D-3B9BBDCA7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5427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A3F34AD-3C13-46A1-93FF-48597C935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矩形 1">
            <a:extLst>
              <a:ext uri="{FF2B5EF4-FFF2-40B4-BE49-F238E27FC236}">
                <a16:creationId xmlns:a16="http://schemas.microsoft.com/office/drawing/2014/main" id="{230EC8C6-E9EA-491C-923B-B92D1B858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420938"/>
            <a:ext cx="7323137" cy="830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第一种情况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，若删除前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该结点中关键字个数</a:t>
            </a:r>
            <a:r>
              <a:rPr kumimoji="0"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n≥⌈m/2⌉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，那么</a:t>
            </a:r>
            <a:r>
              <a:rPr kumimoji="0"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直接删除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该结点。</a:t>
            </a:r>
          </a:p>
        </p:txBody>
      </p:sp>
      <p:pic>
        <p:nvPicPr>
          <p:cNvPr id="54278" name="图片 1">
            <a:extLst>
              <a:ext uri="{FF2B5EF4-FFF2-40B4-BE49-F238E27FC236}">
                <a16:creationId xmlns:a16="http://schemas.microsoft.com/office/drawing/2014/main" id="{BAA43199-9697-4504-9EDF-E60081A11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719513"/>
            <a:ext cx="8424863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>
            <a:extLst>
              <a:ext uri="{FF2B5EF4-FFF2-40B4-BE49-F238E27FC236}">
                <a16:creationId xmlns:a16="http://schemas.microsoft.com/office/drawing/2014/main" id="{7DD999A0-1C37-40F8-9758-6FC47A30A5A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83F6AF-45DC-4FB1-96A8-DC2EDCE1B41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836E54C2-7659-4A71-BBFB-900AA7E39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553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1BC9252-EC71-4DB9-BDD9-873FA7858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9" name="矩形 1">
            <a:extLst>
              <a:ext uri="{FF2B5EF4-FFF2-40B4-BE49-F238E27FC236}">
                <a16:creationId xmlns:a16="http://schemas.microsoft.com/office/drawing/2014/main" id="{8C7C7ACD-8657-4997-B65B-2E81011B48C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67544" y="1773238"/>
            <a:ext cx="8208912" cy="4524315"/>
          </a:xfrm>
          <a:prstGeom prst="rect">
            <a:avLst/>
          </a:prstGeom>
          <a:blipFill>
            <a:blip r:embed="rId4"/>
            <a:stretch>
              <a:fillRect l="-1189" t="-1482" r="-743" b="-215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>
            <a:extLst>
              <a:ext uri="{FF2B5EF4-FFF2-40B4-BE49-F238E27FC236}">
                <a16:creationId xmlns:a16="http://schemas.microsoft.com/office/drawing/2014/main" id="{AA3D5815-9BCB-44B2-BD9C-BAFC3D73370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22B943-5FC1-4E3C-A39D-185828F6A13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3" name="Text Box 2">
            <a:extLst>
              <a:ext uri="{FF2B5EF4-FFF2-40B4-BE49-F238E27FC236}">
                <a16:creationId xmlns:a16="http://schemas.microsoft.com/office/drawing/2014/main" id="{1AEDFAF8-25B5-433D-AA46-12E90DEFF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889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563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263FAF8-DBBF-4B0C-9945-1C7486C92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图片 1">
            <a:extLst>
              <a:ext uri="{FF2B5EF4-FFF2-40B4-BE49-F238E27FC236}">
                <a16:creationId xmlns:a16="http://schemas.microsoft.com/office/drawing/2014/main" id="{C7865CF4-91FD-45FF-8F3A-4B6646D3A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974975"/>
            <a:ext cx="8580438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>
            <a:extLst>
              <a:ext uri="{FF2B5EF4-FFF2-40B4-BE49-F238E27FC236}">
                <a16:creationId xmlns:a16="http://schemas.microsoft.com/office/drawing/2014/main" id="{4989FCBA-7C3C-4EB3-9705-C7AB322198E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8B60C48-1CD3-4EB9-9AC1-2B16D36A879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707FC1A0-4566-4C1D-A18C-A84260392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573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089DE7B-6C46-48AA-A8C0-829DEC25C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9" name="矩形 1">
            <a:extLst>
              <a:ext uri="{FF2B5EF4-FFF2-40B4-BE49-F238E27FC236}">
                <a16:creationId xmlns:a16="http://schemas.microsoft.com/office/drawing/2014/main" id="{A948A2A6-A537-4D25-86C3-8BB77BAC692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67544" y="1773238"/>
            <a:ext cx="8208912" cy="4154984"/>
          </a:xfrm>
          <a:prstGeom prst="rect">
            <a:avLst/>
          </a:prstGeom>
          <a:blipFill>
            <a:blip r:embed="rId4"/>
            <a:stretch>
              <a:fillRect l="-1189" t="-1615" r="-743" b="-249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>
            <a:extLst>
              <a:ext uri="{FF2B5EF4-FFF2-40B4-BE49-F238E27FC236}">
                <a16:creationId xmlns:a16="http://schemas.microsoft.com/office/drawing/2014/main" id="{529E25F0-336F-403D-A82D-A96FAC86644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87E156C-8584-41AF-9E41-E5F2E1E4989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1" name="Text Box 2">
            <a:extLst>
              <a:ext uri="{FF2B5EF4-FFF2-40B4-BE49-F238E27FC236}">
                <a16:creationId xmlns:a16="http://schemas.microsoft.com/office/drawing/2014/main" id="{0C532C73-AD69-4EE2-BF6C-8C1BBC41C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583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A8D96D3-0B76-4A8D-805F-BD6C7723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图片 1">
            <a:extLst>
              <a:ext uri="{FF2B5EF4-FFF2-40B4-BE49-F238E27FC236}">
                <a16:creationId xmlns:a16="http://schemas.microsoft.com/office/drawing/2014/main" id="{DC26FFEB-6569-43BD-8F98-49DE41984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852738"/>
            <a:ext cx="82486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>
            <a:extLst>
              <a:ext uri="{FF2B5EF4-FFF2-40B4-BE49-F238E27FC236}">
                <a16:creationId xmlns:a16="http://schemas.microsoft.com/office/drawing/2014/main" id="{CD072B7C-F9F6-495E-88B3-366FACBEA2F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CEB0A19-B85C-47DE-A096-DFD651880AB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151DA2B9-E90B-4597-9A31-746C89B50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63575"/>
            <a:ext cx="6119812" cy="9223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删除操作</a:t>
            </a:r>
          </a:p>
        </p:txBody>
      </p:sp>
      <p:pic>
        <p:nvPicPr>
          <p:cNvPr id="593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B0EEDAA-E8AB-466D-B842-BCB4A54C2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9" name="矩形 1">
            <a:extLst>
              <a:ext uri="{FF2B5EF4-FFF2-40B4-BE49-F238E27FC236}">
                <a16:creationId xmlns:a16="http://schemas.microsoft.com/office/drawing/2014/main" id="{B1C620FE-E287-4B74-8C48-B7137B3B7D0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67544" y="1936376"/>
            <a:ext cx="8208912" cy="1938992"/>
          </a:xfrm>
          <a:prstGeom prst="rect">
            <a:avLst/>
          </a:prstGeom>
          <a:blipFill>
            <a:blip r:embed="rId4"/>
            <a:stretch>
              <a:fillRect l="-1189" t="-2516" b="-6289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9398" name="图片 1">
            <a:extLst>
              <a:ext uri="{FF2B5EF4-FFF2-40B4-BE49-F238E27FC236}">
                <a16:creationId xmlns:a16="http://schemas.microsoft.com/office/drawing/2014/main" id="{022BAD60-C0FC-4BF8-AF21-CCC23ECE9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4114800"/>
            <a:ext cx="8364538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>
            <a:extLst>
              <a:ext uri="{FF2B5EF4-FFF2-40B4-BE49-F238E27FC236}">
                <a16:creationId xmlns:a16="http://schemas.microsoft.com/office/drawing/2014/main" id="{01FB88B7-7113-475F-84B3-40AF3BBD9A0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F19997-C6D4-4D9E-9818-B6D8341FD4D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60419" name="Text Box 2">
            <a:extLst>
              <a:ext uri="{FF2B5EF4-FFF2-40B4-BE49-F238E27FC236}">
                <a16:creationId xmlns:a16="http://schemas.microsoft.com/office/drawing/2014/main" id="{4E5E5E77-CBF0-4C60-B16F-FE3A9D039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58838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本章学习内容</a:t>
            </a:r>
            <a:endParaRPr lang="zh-CN" altLang="en-US" sz="4800" b="1">
              <a:ea typeface="宋体" panose="02010600030101010101" pitchFamily="2" charset="-122"/>
            </a:endParaRPr>
          </a:p>
        </p:txBody>
      </p:sp>
      <p:grpSp>
        <p:nvGrpSpPr>
          <p:cNvPr id="60420" name="Group 22">
            <a:extLst>
              <a:ext uri="{FF2B5EF4-FFF2-40B4-BE49-F238E27FC236}">
                <a16:creationId xmlns:a16="http://schemas.microsoft.com/office/drawing/2014/main" id="{CF2ECA3E-209B-4117-95FD-1131D62D6F5D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349500"/>
            <a:ext cx="4724400" cy="3573463"/>
            <a:chOff x="1474" y="1480"/>
            <a:chExt cx="2976" cy="2251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C3B51D1F-8C7E-4950-8A49-BC15535CFA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1579"/>
              <a:ext cx="2736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0422" name="AutoShape 10">
              <a:extLst>
                <a:ext uri="{FF2B5EF4-FFF2-40B4-BE49-F238E27FC236}">
                  <a16:creationId xmlns:a16="http://schemas.microsoft.com/office/drawing/2014/main" id="{8B401890-A31D-4ED7-ABF5-F64A4FFB14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480"/>
              <a:ext cx="432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0423" name="Text Box 11">
              <a:extLst>
                <a:ext uri="{FF2B5EF4-FFF2-40B4-BE49-F238E27FC236}">
                  <a16:creationId xmlns:a16="http://schemas.microsoft.com/office/drawing/2014/main" id="{3B2231F2-DA66-4D5D-B299-85FAF054C27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1626"/>
              <a:ext cx="22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无向树的基本知识</a:t>
              </a:r>
            </a:p>
          </p:txBody>
        </p:sp>
        <p:sp>
          <p:nvSpPr>
            <p:cNvPr id="60424" name="Text Box 12">
              <a:extLst>
                <a:ext uri="{FF2B5EF4-FFF2-40B4-BE49-F238E27FC236}">
                  <a16:creationId xmlns:a16="http://schemas.microsoft.com/office/drawing/2014/main" id="{8E99F611-5BA4-44A4-A6D0-427D55DF237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1562"/>
              <a:ext cx="22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F8525019-BA3E-4598-B957-BEE8FB1B78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155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0426" name="AutoShape 15">
              <a:extLst>
                <a:ext uri="{FF2B5EF4-FFF2-40B4-BE49-F238E27FC236}">
                  <a16:creationId xmlns:a16="http://schemas.microsoft.com/office/drawing/2014/main" id="{5F87C518-2FEC-4AF7-8F59-21B0D45A71E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058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0427" name="Text Box 16">
              <a:extLst>
                <a:ext uri="{FF2B5EF4-FFF2-40B4-BE49-F238E27FC236}">
                  <a16:creationId xmlns:a16="http://schemas.microsoft.com/office/drawing/2014/main" id="{EA37AE3C-87F7-4C8D-9DA7-6F7BB9FF7EF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2148"/>
              <a:ext cx="216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根树的基本知识</a:t>
              </a:r>
            </a:p>
          </p:txBody>
        </p:sp>
        <p:sp>
          <p:nvSpPr>
            <p:cNvPr id="60428" name="Text Box 17">
              <a:extLst>
                <a:ext uri="{FF2B5EF4-FFF2-40B4-BE49-F238E27FC236}">
                  <a16:creationId xmlns:a16="http://schemas.microsoft.com/office/drawing/2014/main" id="{C19D903C-21B0-4238-8A23-DCE1B2C9E0B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2139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60429" name="AutoShape 29">
              <a:extLst>
                <a:ext uri="{FF2B5EF4-FFF2-40B4-BE49-F238E27FC236}">
                  <a16:creationId xmlns:a16="http://schemas.microsoft.com/office/drawing/2014/main" id="{1CE1169B-900D-4806-A94C-5C528228925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723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0430" name="AutoShape 30">
              <a:extLst>
                <a:ext uri="{FF2B5EF4-FFF2-40B4-BE49-F238E27FC236}">
                  <a16:creationId xmlns:a16="http://schemas.microsoft.com/office/drawing/2014/main" id="{C9492BB7-13C0-4B3D-92D4-AFE9E4F0DE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629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0431" name="Text Box 31">
              <a:extLst>
                <a:ext uri="{FF2B5EF4-FFF2-40B4-BE49-F238E27FC236}">
                  <a16:creationId xmlns:a16="http://schemas.microsoft.com/office/drawing/2014/main" id="{91DCBC82-5077-4655-A625-2DF65ACA2C0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73" y="2765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特殊根树与算法</a:t>
              </a:r>
            </a:p>
          </p:txBody>
        </p:sp>
        <p:sp>
          <p:nvSpPr>
            <p:cNvPr id="60432" name="Text Box 32">
              <a:extLst>
                <a:ext uri="{FF2B5EF4-FFF2-40B4-BE49-F238E27FC236}">
                  <a16:creationId xmlns:a16="http://schemas.microsoft.com/office/drawing/2014/main" id="{68DC4517-8EFC-4547-A49B-8748F422838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2710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60433" name="AutoShape 19">
              <a:extLst>
                <a:ext uri="{FF2B5EF4-FFF2-40B4-BE49-F238E27FC236}">
                  <a16:creationId xmlns:a16="http://schemas.microsoft.com/office/drawing/2014/main" id="{47B27EF0-0079-4D68-9E80-41A178ECF8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01" y="3261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0434" name="AutoShape 20">
              <a:extLst>
                <a:ext uri="{FF2B5EF4-FFF2-40B4-BE49-F238E27FC236}">
                  <a16:creationId xmlns:a16="http://schemas.microsoft.com/office/drawing/2014/main" id="{2353673D-9B07-4864-97AF-1AAA8C8368A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3170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0435" name="Text Box 21">
              <a:extLst>
                <a:ext uri="{FF2B5EF4-FFF2-40B4-BE49-F238E27FC236}">
                  <a16:creationId xmlns:a16="http://schemas.microsoft.com/office/drawing/2014/main" id="{C1CF95F4-9BDD-4EFB-BEEB-493C12A56B5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99" y="3261"/>
              <a:ext cx="21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树模型的应用</a:t>
              </a:r>
            </a:p>
          </p:txBody>
        </p:sp>
        <p:sp>
          <p:nvSpPr>
            <p:cNvPr id="60436" name="Text Box 22">
              <a:extLst>
                <a:ext uri="{FF2B5EF4-FFF2-40B4-BE49-F238E27FC236}">
                  <a16:creationId xmlns:a16="http://schemas.microsoft.com/office/drawing/2014/main" id="{1A72D27C-1869-41B4-A1B0-D469B483675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3250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>
            <a:extLst>
              <a:ext uri="{FF2B5EF4-FFF2-40B4-BE49-F238E27FC236}">
                <a16:creationId xmlns:a16="http://schemas.microsoft.com/office/drawing/2014/main" id="{B81492B6-D8D1-4D32-AEC6-A41E75A6E9C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675C268-FB6B-47E2-A1A4-04DD38B1E6CF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3" name="页脚占位符 4">
            <a:extLst>
              <a:ext uri="{FF2B5EF4-FFF2-40B4-BE49-F238E27FC236}">
                <a16:creationId xmlns:a16="http://schemas.microsoft.com/office/drawing/2014/main" id="{C524790E-B29E-49E9-88DF-B726EEA2614D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61444" name="灯片编号占位符 5">
            <a:extLst>
              <a:ext uri="{FF2B5EF4-FFF2-40B4-BE49-F238E27FC236}">
                <a16:creationId xmlns:a16="http://schemas.microsoft.com/office/drawing/2014/main" id="{351AB944-5334-4F89-8024-A7B2DE21615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687F789-5A31-4C5D-B555-1301FBBB7187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8E0121F6-5BCA-4178-8555-C85BC175BE33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树模型的应用</a:t>
            </a:r>
          </a:p>
        </p:txBody>
      </p:sp>
      <p:pic>
        <p:nvPicPr>
          <p:cNvPr id="61446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B3AE825A-7F04-4F89-83EF-5A2749892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724400"/>
            <a:ext cx="137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>
            <a:extLst>
              <a:ext uri="{FF2B5EF4-FFF2-40B4-BE49-F238E27FC236}">
                <a16:creationId xmlns:a16="http://schemas.microsoft.com/office/drawing/2014/main" id="{A7C461A4-C0B8-47F8-8FDF-F0D30779DD9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D3688F5-32B0-444A-AC48-829C11A4DC2B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7" name="页脚占位符 4">
            <a:extLst>
              <a:ext uri="{FF2B5EF4-FFF2-40B4-BE49-F238E27FC236}">
                <a16:creationId xmlns:a16="http://schemas.microsoft.com/office/drawing/2014/main" id="{ED63463D-A50E-4987-B7AA-65DB835BD06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62468" name="灯片编号占位符 5">
            <a:extLst>
              <a:ext uri="{FF2B5EF4-FFF2-40B4-BE49-F238E27FC236}">
                <a16:creationId xmlns:a16="http://schemas.microsoft.com/office/drawing/2014/main" id="{A8E38F31-6157-44F4-B674-D41995C6792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01C7F93-AACF-4AEE-B78B-4F58B234FC34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9" name="Text Box 2">
            <a:extLst>
              <a:ext uri="{FF2B5EF4-FFF2-40B4-BE49-F238E27FC236}">
                <a16:creationId xmlns:a16="http://schemas.microsoft.com/office/drawing/2014/main" id="{97A4EDFF-5EDC-4A65-85AB-DB3CCC9F6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树模型的应用</a:t>
            </a:r>
          </a:p>
        </p:txBody>
      </p:sp>
      <p:sp>
        <p:nvSpPr>
          <p:cNvPr id="62470" name="Rectangle 3">
            <a:extLst>
              <a:ext uri="{FF2B5EF4-FFF2-40B4-BE49-F238E27FC236}">
                <a16:creationId xmlns:a16="http://schemas.microsoft.com/office/drawing/2014/main" id="{03099031-F6CA-4F14-A8CC-D68D76D4A0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51050" y="2492375"/>
            <a:ext cx="5184775" cy="3097213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Clr>
                <a:schemeClr val="accent2"/>
              </a:buClr>
              <a:buFont typeface="Wingdings" panose="05000000000000000000" pitchFamily="2" charset="2"/>
              <a:buChar char="J"/>
            </a:pP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找假币问题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轮流摸牌问题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关键道路问题</a:t>
            </a:r>
          </a:p>
        </p:txBody>
      </p:sp>
      <p:pic>
        <p:nvPicPr>
          <p:cNvPr id="62471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19E3F1B2-48F0-4DF5-BC5B-22331E6E7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>
            <a:extLst>
              <a:ext uri="{FF2B5EF4-FFF2-40B4-BE49-F238E27FC236}">
                <a16:creationId xmlns:a16="http://schemas.microsoft.com/office/drawing/2014/main" id="{F51286C4-3963-4DA0-8E85-A6A64CD24D9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A345C9-9F32-46F8-8B59-BD5E5DEFDFA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491" name="Text Box 2">
            <a:extLst>
              <a:ext uri="{FF2B5EF4-FFF2-40B4-BE49-F238E27FC236}">
                <a16:creationId xmlns:a16="http://schemas.microsoft.com/office/drawing/2014/main" id="{19B0783B-2441-46BD-A634-208B2FE39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66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决策树</a:t>
            </a:r>
          </a:p>
        </p:txBody>
      </p:sp>
      <p:pic>
        <p:nvPicPr>
          <p:cNvPr id="6349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90E4D7A-27E3-432D-B3E1-EA41C0FE5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6" descr="QQ截图20150923210910">
            <a:extLst>
              <a:ext uri="{FF2B5EF4-FFF2-40B4-BE49-F238E27FC236}">
                <a16:creationId xmlns:a16="http://schemas.microsoft.com/office/drawing/2014/main" id="{67452B30-3F77-4B5C-B4D5-B8054D302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060575"/>
            <a:ext cx="7885112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>
            <a:extLst>
              <a:ext uri="{FF2B5EF4-FFF2-40B4-BE49-F238E27FC236}">
                <a16:creationId xmlns:a16="http://schemas.microsoft.com/office/drawing/2014/main" id="{4C6C7DCA-C2DF-4E30-A6C5-AD54335679C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66BF76-4D86-4CB6-AF32-21699EA6C77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15" name="Text Box 2">
            <a:extLst>
              <a:ext uri="{FF2B5EF4-FFF2-40B4-BE49-F238E27FC236}">
                <a16:creationId xmlns:a16="http://schemas.microsoft.com/office/drawing/2014/main" id="{3557F3C7-80C7-4A7F-9D2F-536174A7E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2076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决策树</a:t>
            </a:r>
          </a:p>
        </p:txBody>
      </p:sp>
      <p:pic>
        <p:nvPicPr>
          <p:cNvPr id="6451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4BAB8EC-4E31-46F2-B714-A5BF9EC80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Rectangle 3">
            <a:extLst>
              <a:ext uri="{FF2B5EF4-FFF2-40B4-BE49-F238E27FC236}">
                <a16:creationId xmlns:a16="http://schemas.microsoft.com/office/drawing/2014/main" id="{3F9924B5-A52F-4854-8B3B-753AA0156D7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116013" y="2420938"/>
            <a:ext cx="7272337" cy="2879725"/>
          </a:xfrm>
          <a:prstGeom prst="rect">
            <a:avLst/>
          </a:prstGeom>
          <a:solidFill>
            <a:srgbClr val="FFFF66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35000"/>
              </a:lnSpc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       </a:t>
            </a:r>
            <a:r>
              <a:rPr lang="zh-CN" altLang="en-US" sz="3200" b="1">
                <a:ea typeface="宋体" panose="02010600030101010101" pitchFamily="2" charset="-122"/>
              </a:rPr>
              <a:t>决策树是图论中最常见的模型之一，它把做出判决的逻辑关系用树的形式表现出来，</a:t>
            </a:r>
            <a:r>
              <a:rPr lang="zh-CN" altLang="en-US" sz="3200" b="1">
                <a:solidFill>
                  <a:schemeClr val="hlink"/>
                </a:solidFill>
                <a:ea typeface="宋体" panose="02010600030101010101" pitchFamily="2" charset="-122"/>
              </a:rPr>
              <a:t>最后的结果都集中在叶子上，</a:t>
            </a:r>
            <a:r>
              <a:rPr lang="zh-CN" altLang="en-US" sz="3200" b="1">
                <a:ea typeface="宋体" panose="02010600030101010101" pitchFamily="2" charset="-122"/>
              </a:rPr>
              <a:t>条理清晰，一目了然。    </a:t>
            </a: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>
            <a:extLst>
              <a:ext uri="{FF2B5EF4-FFF2-40B4-BE49-F238E27FC236}">
                <a16:creationId xmlns:a16="http://schemas.microsoft.com/office/drawing/2014/main" id="{9BC0131C-CB96-4541-842D-227AD56DE03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4E75E8D-6DF3-4BAC-A08C-0DB81FDC84C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39" name="Text Box 2">
            <a:extLst>
              <a:ext uri="{FF2B5EF4-FFF2-40B4-BE49-F238E27FC236}">
                <a16:creationId xmlns:a16="http://schemas.microsoft.com/office/drawing/2014/main" id="{85910228-64F0-4505-B08C-72F71BB3D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2076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</a:t>
            </a:r>
          </a:p>
        </p:txBody>
      </p:sp>
      <p:pic>
        <p:nvPicPr>
          <p:cNvPr id="6554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EB7FAF0-28A8-4B36-A1B9-308374664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3">
            <a:extLst>
              <a:ext uri="{FF2B5EF4-FFF2-40B4-BE49-F238E27FC236}">
                <a16:creationId xmlns:a16="http://schemas.microsoft.com/office/drawing/2014/main" id="{89637419-3BEE-474A-A293-2653E0F3A0A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42988" y="2135188"/>
            <a:ext cx="7416800" cy="172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35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女孩子被父母安排相亲，为了确定见与不见，他可能会考虑诸如：年龄、长相、收入等问题。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图所示的决策树就是她可能的一种决策过程。</a:t>
            </a:r>
          </a:p>
        </p:txBody>
      </p:sp>
      <p:pic>
        <p:nvPicPr>
          <p:cNvPr id="65542" name="图片 2">
            <a:extLst>
              <a:ext uri="{FF2B5EF4-FFF2-40B4-BE49-F238E27FC236}">
                <a16:creationId xmlns:a16="http://schemas.microsoft.com/office/drawing/2014/main" id="{320800BA-87E7-489A-8E4D-75ED12870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4006850"/>
            <a:ext cx="39338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>
            <a:extLst>
              <a:ext uri="{FF2B5EF4-FFF2-40B4-BE49-F238E27FC236}">
                <a16:creationId xmlns:a16="http://schemas.microsoft.com/office/drawing/2014/main" id="{15FF50C6-0A55-4E42-8702-04F695BCD37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77F78F-47CD-49E3-BCF4-1C62290BDA5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563" name="Text Box 2">
            <a:extLst>
              <a:ext uri="{FF2B5EF4-FFF2-40B4-BE49-F238E27FC236}">
                <a16:creationId xmlns:a16="http://schemas.microsoft.com/office/drawing/2014/main" id="{7696BBB0-3FFC-482B-B9E0-7266932D7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66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找假币问题</a:t>
            </a: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656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7ABAF72-C023-4805-BF97-458AEA64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矩形 1">
            <a:extLst>
              <a:ext uri="{FF2B5EF4-FFF2-40B4-BE49-F238E27FC236}">
                <a16:creationId xmlns:a16="http://schemas.microsoft.com/office/drawing/2014/main" id="{78D6F998-9F9A-4E51-9B1A-D8AB96F0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2247900"/>
            <a:ext cx="8066088" cy="3540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现有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枚外观相同的硬币，其中有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枚是假的，假币与真币在重量上有差异，但不知孰重孰轻。问如何使用一架无砝码天平找出假币并判别其与真币的重量关系？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用天平来称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两枚硬币，只有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A&lt;B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A=B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A&gt;B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三种可能的情形，因此可构造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元决策树来解决。如图所示。</a:t>
            </a:r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>
            <a:extLst>
              <a:ext uri="{FF2B5EF4-FFF2-40B4-BE49-F238E27FC236}">
                <a16:creationId xmlns:a16="http://schemas.microsoft.com/office/drawing/2014/main" id="{749CAD82-C538-40B1-9A4E-E01B5394E0B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8350C14-7AE9-4F2E-83E8-C9504C3D422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93E26939-B774-41E8-84A1-D4DE2122B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找假币问题</a:t>
            </a: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758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E67A5D3-C84D-43F3-B501-C86A9737E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9" name="Picture 6" descr="QQ截图20150923211509">
            <a:extLst>
              <a:ext uri="{FF2B5EF4-FFF2-40B4-BE49-F238E27FC236}">
                <a16:creationId xmlns:a16="http://schemas.microsoft.com/office/drawing/2014/main" id="{16830EB3-BA27-4DCD-B258-F160845DB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73238"/>
            <a:ext cx="784860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>
            <a:extLst>
              <a:ext uri="{FF2B5EF4-FFF2-40B4-BE49-F238E27FC236}">
                <a16:creationId xmlns:a16="http://schemas.microsoft.com/office/drawing/2014/main" id="{D3676BA0-C5E0-487A-AA41-23655E4A057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B1141E-6EE7-408D-95F9-3EC713C1CA8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1" name="Text Box 2">
            <a:extLst>
              <a:ext uri="{FF2B5EF4-FFF2-40B4-BE49-F238E27FC236}">
                <a16:creationId xmlns:a16="http://schemas.microsoft.com/office/drawing/2014/main" id="{9AED4E7B-B186-40B6-9CFA-53810399B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493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找假币问题</a:t>
            </a: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</p:txBody>
      </p:sp>
      <p:pic>
        <p:nvPicPr>
          <p:cNvPr id="686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ADE9122-9988-4DA1-A3F0-E20CA8A6D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Rectangle 3">
            <a:extLst>
              <a:ext uri="{FF2B5EF4-FFF2-40B4-BE49-F238E27FC236}">
                <a16:creationId xmlns:a16="http://schemas.microsoft.com/office/drawing/2014/main" id="{745500F5-A702-489D-8774-77D581F724F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258888" y="2557463"/>
            <a:ext cx="7200900" cy="281622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30000"/>
              </a:lnSpc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【</a:t>
            </a:r>
            <a:r>
              <a:rPr lang="zh-CN" altLang="en-US" sz="3200" b="1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】</a:t>
            </a:r>
            <a:r>
              <a:rPr lang="zh-CN" altLang="en-US" sz="3200" b="1">
                <a:ea typeface="宋体" panose="02010600030101010101" pitchFamily="2" charset="-122"/>
              </a:rPr>
              <a:t>已知有</a:t>
            </a:r>
            <a:r>
              <a:rPr lang="en-US" altLang="zh-CN" sz="3200" b="1">
                <a:ea typeface="宋体" panose="02010600030101010101" pitchFamily="2" charset="-122"/>
              </a:rPr>
              <a:t>12</a:t>
            </a:r>
            <a:r>
              <a:rPr lang="zh-CN" altLang="en-US" sz="3200" b="1">
                <a:ea typeface="宋体" panose="02010600030101010101" pitchFamily="2" charset="-122"/>
              </a:rPr>
              <a:t>个金币，其中有一个是假的，且不知道假币和金币的重量关系，现在要求用一个天平，只称</a:t>
            </a:r>
            <a:r>
              <a:rPr lang="en-US" altLang="zh-CN" sz="3200" b="1">
                <a:ea typeface="宋体" panose="02010600030101010101" pitchFamily="2" charset="-122"/>
              </a:rPr>
              <a:t>3</a:t>
            </a:r>
            <a:r>
              <a:rPr lang="zh-CN" altLang="en-US" sz="3200" b="1">
                <a:ea typeface="宋体" panose="02010600030101010101" pitchFamily="2" charset="-122"/>
              </a:rPr>
              <a:t>次，把假币找出来。</a:t>
            </a:r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>
            <a:extLst>
              <a:ext uri="{FF2B5EF4-FFF2-40B4-BE49-F238E27FC236}">
                <a16:creationId xmlns:a16="http://schemas.microsoft.com/office/drawing/2014/main" id="{E02E3953-3B99-482B-B771-B3B36F0F1D1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BE1307-5EC2-4509-BBAA-1457147715A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5" name="Text Box 2">
            <a:extLst>
              <a:ext uri="{FF2B5EF4-FFF2-40B4-BE49-F238E27FC236}">
                <a16:creationId xmlns:a16="http://schemas.microsoft.com/office/drawing/2014/main" id="{CE5632E0-470A-4F7E-9F27-8B56E5169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找假币问题</a:t>
            </a: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</p:txBody>
      </p:sp>
      <p:pic>
        <p:nvPicPr>
          <p:cNvPr id="6963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3E5428B-E988-4BB8-A04E-5CDE66DC8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Rectangle 3">
            <a:extLst>
              <a:ext uri="{FF2B5EF4-FFF2-40B4-BE49-F238E27FC236}">
                <a16:creationId xmlns:a16="http://schemas.microsoft.com/office/drawing/2014/main" id="{381AE1E9-B266-4FC9-879A-09FA3FCACCB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11188" y="1916113"/>
            <a:ext cx="417671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【</a:t>
            </a:r>
            <a:r>
              <a:rPr lang="zh-CN" altLang="en-US" sz="2800" b="1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】</a:t>
            </a:r>
            <a:r>
              <a:rPr lang="zh-CN" altLang="en-US" sz="2800" b="1">
                <a:ea typeface="宋体" panose="02010600030101010101" pitchFamily="2" charset="-122"/>
              </a:rPr>
              <a:t>把球分成三份：</a:t>
            </a:r>
          </a:p>
        </p:txBody>
      </p:sp>
      <p:pic>
        <p:nvPicPr>
          <p:cNvPr id="69638" name="Picture 8" descr="QQ截图20150924120236">
            <a:extLst>
              <a:ext uri="{FF2B5EF4-FFF2-40B4-BE49-F238E27FC236}">
                <a16:creationId xmlns:a16="http://schemas.microsoft.com/office/drawing/2014/main" id="{9E46C041-7543-4C3B-84D2-6823B94BC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990725"/>
            <a:ext cx="4608512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10" descr="QQ截图20150924120544">
            <a:extLst>
              <a:ext uri="{FF2B5EF4-FFF2-40B4-BE49-F238E27FC236}">
                <a16:creationId xmlns:a16="http://schemas.microsoft.com/office/drawing/2014/main" id="{96220980-2368-4C70-B45D-215BD90C2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781300"/>
            <a:ext cx="6624637" cy="329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>
            <a:extLst>
              <a:ext uri="{FF2B5EF4-FFF2-40B4-BE49-F238E27FC236}">
                <a16:creationId xmlns:a16="http://schemas.microsoft.com/office/drawing/2014/main" id="{397EE759-30D5-4B0C-A3B5-AC40348FFBB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FE34DE-15D1-4902-8593-9BE51EE04D2D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59" name="页脚占位符 4">
            <a:extLst>
              <a:ext uri="{FF2B5EF4-FFF2-40B4-BE49-F238E27FC236}">
                <a16:creationId xmlns:a16="http://schemas.microsoft.com/office/drawing/2014/main" id="{C9C29E72-5FA5-4F72-B0CF-A9FFAF18319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70660" name="灯片编号占位符 5">
            <a:extLst>
              <a:ext uri="{FF2B5EF4-FFF2-40B4-BE49-F238E27FC236}">
                <a16:creationId xmlns:a16="http://schemas.microsoft.com/office/drawing/2014/main" id="{0F3AB29F-61D3-4CE9-89E1-DE320DBA6A4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E89167A-C835-4947-AC51-03AFDF2443A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1" name="Text Box 2">
            <a:extLst>
              <a:ext uri="{FF2B5EF4-FFF2-40B4-BE49-F238E27FC236}">
                <a16:creationId xmlns:a16="http://schemas.microsoft.com/office/drawing/2014/main" id="{AD27FFC7-B904-4E2A-9767-65879FE13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树模型的应用</a:t>
            </a:r>
          </a:p>
        </p:txBody>
      </p:sp>
      <p:sp>
        <p:nvSpPr>
          <p:cNvPr id="70662" name="Rectangle 3">
            <a:extLst>
              <a:ext uri="{FF2B5EF4-FFF2-40B4-BE49-F238E27FC236}">
                <a16:creationId xmlns:a16="http://schemas.microsoft.com/office/drawing/2014/main" id="{0FAEA346-CE5C-4727-BAFE-5FD65E61C1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92275" y="2492375"/>
            <a:ext cx="5761038" cy="36734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找假币问题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轮流摸牌问题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关键道路问题</a:t>
            </a:r>
          </a:p>
        </p:txBody>
      </p:sp>
      <p:pic>
        <p:nvPicPr>
          <p:cNvPr id="70663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FE180CA1-D9C6-4AE3-950D-9116D0876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3">
            <a:extLst>
              <a:ext uri="{FF2B5EF4-FFF2-40B4-BE49-F238E27FC236}">
                <a16:creationId xmlns:a16="http://schemas.microsoft.com/office/drawing/2014/main" id="{BC34447E-F4A6-4BEB-8BC6-D7534B32E6B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0EB6DBB-FC10-48F7-955B-C8CBB66DCE80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683" name="Text Box 2">
            <a:extLst>
              <a:ext uri="{FF2B5EF4-FFF2-40B4-BE49-F238E27FC236}">
                <a16:creationId xmlns:a16="http://schemas.microsoft.com/office/drawing/2014/main" id="{C27C671B-1E44-462A-B1AF-25BEA17B2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博弈树</a:t>
            </a:r>
          </a:p>
        </p:txBody>
      </p:sp>
      <p:pic>
        <p:nvPicPr>
          <p:cNvPr id="7168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1038DD4-8693-40D3-A777-7A7C1287F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5" name="Picture 6" descr="QQ截图20150923211742">
            <a:extLst>
              <a:ext uri="{FF2B5EF4-FFF2-40B4-BE49-F238E27FC236}">
                <a16:creationId xmlns:a16="http://schemas.microsoft.com/office/drawing/2014/main" id="{D2157FBC-3B32-4C19-B1B5-05A39A6BC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11"/>
          <a:stretch>
            <a:fillRect/>
          </a:stretch>
        </p:blipFill>
        <p:spPr bwMode="auto">
          <a:xfrm>
            <a:off x="827088" y="1844675"/>
            <a:ext cx="7921625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矩形 2">
            <a:extLst>
              <a:ext uri="{FF2B5EF4-FFF2-40B4-BE49-F238E27FC236}">
                <a16:creationId xmlns:a16="http://schemas.microsoft.com/office/drawing/2014/main" id="{FB28D3C6-610A-444F-8673-CB8C59F6E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46700"/>
            <a:ext cx="7921625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作为一种经典的博奕类游戏，下面我们介绍轮流摸牌问题</a:t>
            </a:r>
          </a:p>
        </p:txBody>
      </p:sp>
    </p:spTree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>
            <a:extLst>
              <a:ext uri="{FF2B5EF4-FFF2-40B4-BE49-F238E27FC236}">
                <a16:creationId xmlns:a16="http://schemas.microsoft.com/office/drawing/2014/main" id="{94EDF3A1-15B3-422E-9C14-1D0A43C32FD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3F4F75-5FF9-4C21-9757-BF7F6F3EF9E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07" name="Text Box 2">
            <a:extLst>
              <a:ext uri="{FF2B5EF4-FFF2-40B4-BE49-F238E27FC236}">
                <a16:creationId xmlns:a16="http://schemas.microsoft.com/office/drawing/2014/main" id="{231211E3-28E6-4564-910A-C1941F48E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轮流摸牌问题</a:t>
            </a:r>
          </a:p>
        </p:txBody>
      </p:sp>
      <p:pic>
        <p:nvPicPr>
          <p:cNvPr id="7270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59B6D4-186F-4CCD-AD96-6687C4108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9" name="矩形 1">
            <a:extLst>
              <a:ext uri="{FF2B5EF4-FFF2-40B4-BE49-F238E27FC236}">
                <a16:creationId xmlns:a16="http://schemas.microsoft.com/office/drawing/2014/main" id="{13E51ECE-3BFE-43AF-879A-5F268F3C3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43100"/>
            <a:ext cx="7559675" cy="1385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图所示为初始的三堆扑克牌数量。第一堆和第二堆的扑克牌数量都为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张，第三堆扑克牌的数量为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张，组成了初始状态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72710" name="图片 2">
            <a:extLst>
              <a:ext uri="{FF2B5EF4-FFF2-40B4-BE49-F238E27FC236}">
                <a16:creationId xmlns:a16="http://schemas.microsoft.com/office/drawing/2014/main" id="{A3C65D74-1888-44C9-B502-D47EC22AE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3714750"/>
            <a:ext cx="4329113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>
            <a:extLst>
              <a:ext uri="{FF2B5EF4-FFF2-40B4-BE49-F238E27FC236}">
                <a16:creationId xmlns:a16="http://schemas.microsoft.com/office/drawing/2014/main" id="{7F8D78AC-330A-4A2B-9552-4B765D18CEC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FF2B57-9194-4A4D-9EEF-6858E8FC9523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1" name="Text Box 2">
            <a:extLst>
              <a:ext uri="{FF2B5EF4-FFF2-40B4-BE49-F238E27FC236}">
                <a16:creationId xmlns:a16="http://schemas.microsoft.com/office/drawing/2014/main" id="{689E2928-A309-4FC8-A490-C940EC37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轮流摸牌问题</a:t>
            </a:r>
          </a:p>
        </p:txBody>
      </p:sp>
      <p:pic>
        <p:nvPicPr>
          <p:cNvPr id="737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345BDA1-4F1D-4B9E-BE77-C13C5A1AD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矩形 1">
            <a:extLst>
              <a:ext uri="{FF2B5EF4-FFF2-40B4-BE49-F238E27FC236}">
                <a16:creationId xmlns:a16="http://schemas.microsoft.com/office/drawing/2014/main" id="{729F39ED-96E8-4C44-B212-9D425CE94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19263"/>
            <a:ext cx="7559675" cy="9540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其在给定初始状态（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）扩展下的所有对弈策略博弈树如图所示</a:t>
            </a:r>
          </a:p>
        </p:txBody>
      </p:sp>
      <p:pic>
        <p:nvPicPr>
          <p:cNvPr id="73734" name="图片 3">
            <a:extLst>
              <a:ext uri="{FF2B5EF4-FFF2-40B4-BE49-F238E27FC236}">
                <a16:creationId xmlns:a16="http://schemas.microsoft.com/office/drawing/2014/main" id="{5D7E80C9-AF59-4622-83B5-96A863CC87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673350"/>
            <a:ext cx="517207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>
            <a:extLst>
              <a:ext uri="{FF2B5EF4-FFF2-40B4-BE49-F238E27FC236}">
                <a16:creationId xmlns:a16="http://schemas.microsoft.com/office/drawing/2014/main" id="{837143BB-7957-48A3-A5D7-6A0DAFA473C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7191ED-3B58-4C5A-88BF-E4DED3F4E9F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5" name="Text Box 2">
            <a:extLst>
              <a:ext uri="{FF2B5EF4-FFF2-40B4-BE49-F238E27FC236}">
                <a16:creationId xmlns:a16="http://schemas.microsoft.com/office/drawing/2014/main" id="{3F7BB65E-26B3-4C24-9A2C-787285FFF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轮流摸牌问题</a:t>
            </a:r>
          </a:p>
        </p:txBody>
      </p:sp>
      <p:pic>
        <p:nvPicPr>
          <p:cNvPr id="7475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C8BFB2A-4BE0-4FAD-B506-F6A4AB57C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矩形 1">
            <a:extLst>
              <a:ext uri="{FF2B5EF4-FFF2-40B4-BE49-F238E27FC236}">
                <a16:creationId xmlns:a16="http://schemas.microsoft.com/office/drawing/2014/main" id="{A256E0B9-747D-47B3-AFD7-B56CE5EBB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2414588"/>
            <a:ext cx="7561262" cy="31099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一般结论：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某个初始局面为先手必胜，那么每走一步都必须使后首落在必败点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。因此对于每一个局面，要么为胜局面，要么为负局面。用非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表示表示胜局面，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表示负局面。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对于某一个局面，若为非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局面，它的任务就是要寻找某一种取法，使局面变为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局面。那么其对手无论怎么取，都会使局面又变为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局面。</a:t>
            </a:r>
          </a:p>
        </p:txBody>
      </p:sp>
    </p:spTree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>
            <a:extLst>
              <a:ext uri="{FF2B5EF4-FFF2-40B4-BE49-F238E27FC236}">
                <a16:creationId xmlns:a16="http://schemas.microsoft.com/office/drawing/2014/main" id="{123A5EBB-AD75-4EE4-BEB8-72282B4D365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53112FD-834D-4721-9504-81BD30BC61B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79" name="Text Box 2">
            <a:extLst>
              <a:ext uri="{FF2B5EF4-FFF2-40B4-BE49-F238E27FC236}">
                <a16:creationId xmlns:a16="http://schemas.microsoft.com/office/drawing/2014/main" id="{4054A40D-0912-4898-AA22-3B63AA33B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轮流摸牌问题</a:t>
            </a:r>
          </a:p>
        </p:txBody>
      </p:sp>
      <p:pic>
        <p:nvPicPr>
          <p:cNvPr id="757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E5C3311-F6D1-4CEF-9564-9814B71C7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矩形 1">
            <a:extLst>
              <a:ext uri="{FF2B5EF4-FFF2-40B4-BE49-F238E27FC236}">
                <a16:creationId xmlns:a16="http://schemas.microsoft.com/office/drawing/2014/main" id="{7EAFF860-4E45-44DE-AA4E-5D25B0370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2924175"/>
            <a:ext cx="7561262" cy="18161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轮流摸扑克牌游戏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为典型的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尼姆博弈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问题。尼姆博弈的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在于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游戏开始时游戏处于何种状态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（平衡或非平衡）和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先手是否能够按照取子游戏的获胜策略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来进行游戏。</a:t>
            </a:r>
          </a:p>
        </p:txBody>
      </p:sp>
    </p:spTree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>
            <a:extLst>
              <a:ext uri="{FF2B5EF4-FFF2-40B4-BE49-F238E27FC236}">
                <a16:creationId xmlns:a16="http://schemas.microsoft.com/office/drawing/2014/main" id="{88F49EE6-A88A-4CA0-B97E-F92FAE15751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430A362-091F-4CCC-98E3-8F37571E5994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3" name="页脚占位符 4">
            <a:extLst>
              <a:ext uri="{FF2B5EF4-FFF2-40B4-BE49-F238E27FC236}">
                <a16:creationId xmlns:a16="http://schemas.microsoft.com/office/drawing/2014/main" id="{86FEF801-3C7E-480D-AAFD-25E27E0AB95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76804" name="灯片编号占位符 5">
            <a:extLst>
              <a:ext uri="{FF2B5EF4-FFF2-40B4-BE49-F238E27FC236}">
                <a16:creationId xmlns:a16="http://schemas.microsoft.com/office/drawing/2014/main" id="{15C5C0D7-2467-480B-BD6E-3DCD4EF73A6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BA2F539-A2EC-47AF-BBA9-0F55B5EEBE61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5" name="Text Box 2">
            <a:extLst>
              <a:ext uri="{FF2B5EF4-FFF2-40B4-BE49-F238E27FC236}">
                <a16:creationId xmlns:a16="http://schemas.microsoft.com/office/drawing/2014/main" id="{B8C8A5DD-2055-4EEC-AB00-A0FAEA26F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树模型的应用</a:t>
            </a:r>
          </a:p>
        </p:txBody>
      </p:sp>
      <p:sp>
        <p:nvSpPr>
          <p:cNvPr id="76806" name="Rectangle 3">
            <a:extLst>
              <a:ext uri="{FF2B5EF4-FFF2-40B4-BE49-F238E27FC236}">
                <a16:creationId xmlns:a16="http://schemas.microsoft.com/office/drawing/2014/main" id="{0950C414-6207-4351-9589-ED8860B0651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95513" y="2492375"/>
            <a:ext cx="5184775" cy="3097213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找假币问题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轮流摸牌问题</a:t>
            </a:r>
          </a:p>
          <a:p>
            <a:pPr eaLnBrk="1" hangingPunct="1">
              <a:lnSpc>
                <a:spcPct val="155000"/>
              </a:lnSpc>
              <a:buClr>
                <a:schemeClr val="accent2"/>
              </a:buClr>
              <a:buFont typeface="Wingdings" panose="05000000000000000000" pitchFamily="2" charset="2"/>
              <a:buChar char="J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关键道路问题</a:t>
            </a:r>
            <a:endParaRPr lang="en-US" altLang="zh-CN" sz="3600" b="1"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</p:txBody>
      </p:sp>
      <p:pic>
        <p:nvPicPr>
          <p:cNvPr id="76807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733018BE-6D4D-4333-9837-4A98BB9F9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3">
            <a:extLst>
              <a:ext uri="{FF2B5EF4-FFF2-40B4-BE49-F238E27FC236}">
                <a16:creationId xmlns:a16="http://schemas.microsoft.com/office/drawing/2014/main" id="{F7C72D15-E262-4AFF-8427-9637778FE07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FFD251A-A418-4ED6-BEEE-70A7EF5C926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7" name="Text Box 2">
            <a:extLst>
              <a:ext uri="{FF2B5EF4-FFF2-40B4-BE49-F238E27FC236}">
                <a16:creationId xmlns:a16="http://schemas.microsoft.com/office/drawing/2014/main" id="{7167DA2C-88E2-4CFF-A408-D6836E95A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关键道路</a:t>
            </a:r>
          </a:p>
        </p:txBody>
      </p:sp>
      <p:pic>
        <p:nvPicPr>
          <p:cNvPr id="7782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17ECDDF-D851-4E02-9A4D-1C311560E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矩形 1">
            <a:extLst>
              <a:ext uri="{FF2B5EF4-FFF2-40B4-BE49-F238E27FC236}">
                <a16:creationId xmlns:a16="http://schemas.microsoft.com/office/drawing/2014/main" id="{F745B18B-9F6F-4F80-B80A-C003D3CE5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06650"/>
            <a:ext cx="7704137" cy="3108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一项工程往往由许多作业构成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，其中某些作业可以同时进行，而某些作业却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必须按照一定先后顺序执行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。例如，在建筑工程中，室内装修却必须在砌墙立屋之后才能动工等。这样就存在问题：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为了使工期最短、成本最低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，我们应该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采取什么方法安排各个作业实施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kumimoji="0"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先引入一些概念来对关键道路相关问题进行建模</a:t>
            </a:r>
          </a:p>
        </p:txBody>
      </p:sp>
    </p:spTree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3">
            <a:extLst>
              <a:ext uri="{FF2B5EF4-FFF2-40B4-BE49-F238E27FC236}">
                <a16:creationId xmlns:a16="http://schemas.microsoft.com/office/drawing/2014/main" id="{DC7C8B29-1579-4DF5-AD9A-57CDAD4E106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3C6E46-480B-4CA2-BE7A-DF5918243D2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1" name="Text Box 2">
            <a:extLst>
              <a:ext uri="{FF2B5EF4-FFF2-40B4-BE49-F238E27FC236}">
                <a16:creationId xmlns:a16="http://schemas.microsoft.com/office/drawing/2014/main" id="{1D817914-5F49-46FF-BC08-CC19A8946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PERT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</a:p>
        </p:txBody>
      </p:sp>
      <p:pic>
        <p:nvPicPr>
          <p:cNvPr id="788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353A913-B99A-4FA7-824D-8C021B4DF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3" name="图片 1">
            <a:extLst>
              <a:ext uri="{FF2B5EF4-FFF2-40B4-BE49-F238E27FC236}">
                <a16:creationId xmlns:a16="http://schemas.microsoft.com/office/drawing/2014/main" id="{2E4D505C-3414-4305-A3A3-BFD7B008F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2336800"/>
            <a:ext cx="5310188" cy="326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>
            <a:extLst>
              <a:ext uri="{FF2B5EF4-FFF2-40B4-BE49-F238E27FC236}">
                <a16:creationId xmlns:a16="http://schemas.microsoft.com/office/drawing/2014/main" id="{543126D8-C0E2-46F1-B361-6F9A401154E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782AFF7-68DF-44AD-9D05-EA7EB950F2A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5" name="Text Box 2">
            <a:extLst>
              <a:ext uri="{FF2B5EF4-FFF2-40B4-BE49-F238E27FC236}">
                <a16:creationId xmlns:a16="http://schemas.microsoft.com/office/drawing/2014/main" id="{82F0BF75-5C65-4F2C-9B13-E88949C12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PERT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</a:p>
        </p:txBody>
      </p:sp>
      <p:pic>
        <p:nvPicPr>
          <p:cNvPr id="7987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471D2D0-BFFD-4497-BED6-A04A81DC7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7" name="Picture 6" descr="QQ截图20151004094741">
            <a:extLst>
              <a:ext uri="{FF2B5EF4-FFF2-40B4-BE49-F238E27FC236}">
                <a16:creationId xmlns:a16="http://schemas.microsoft.com/office/drawing/2014/main" id="{CB24414F-71C8-4C10-BC39-777B1601E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73238"/>
            <a:ext cx="818197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0004" name="Text Box 4">
            <a:extLst>
              <a:ext uri="{FF2B5EF4-FFF2-40B4-BE49-F238E27FC236}">
                <a16:creationId xmlns:a16="http://schemas.microsoft.com/office/drawing/2014/main" id="{F0713F3B-3525-4A12-A5B9-4E1C13BD5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5149850"/>
            <a:ext cx="8108950" cy="94615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对于</a:t>
            </a:r>
            <a:r>
              <a:rPr kumimoji="1"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PERT</a:t>
            </a: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图，我们主要关心其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关键路径</a:t>
            </a: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，以及每个作业的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最早启动时间</a:t>
            </a: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和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最晚启动时间</a:t>
            </a: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78F422AF-B0D4-4B70-B03F-9A13548E9DD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46C5BE-8C44-4B53-BD2C-7812F19AF03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899" name="Text Box 2">
            <a:extLst>
              <a:ext uri="{FF2B5EF4-FFF2-40B4-BE49-F238E27FC236}">
                <a16:creationId xmlns:a16="http://schemas.microsoft.com/office/drawing/2014/main" id="{445C1CFC-F46C-4FFA-A6D6-B733F5EBC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关键路径</a:t>
            </a:r>
          </a:p>
        </p:txBody>
      </p:sp>
      <p:pic>
        <p:nvPicPr>
          <p:cNvPr id="809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B043424-0E2A-41F0-92E3-EBDEA333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矩形 1">
            <a:extLst>
              <a:ext uri="{FF2B5EF4-FFF2-40B4-BE49-F238E27FC236}">
                <a16:creationId xmlns:a16="http://schemas.microsoft.com/office/drawing/2014/main" id="{135C63D1-9A66-4F38-AF30-C9C537370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84375"/>
            <a:ext cx="7777162" cy="3970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采用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生成树方法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计算源到其它结点的最长道路即关键道路，计算思路如下：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）构造一棵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以源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为根的生成根树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，且求出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到根树的各个结点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的距离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L(v)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）对任何一条权为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W(u,v)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的弦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〈u,v〉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L(v)&lt; L(u)+ W(u,v)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，则从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中去掉以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为终点的有向边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，而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以有向边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〈u,v〉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代之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，同时使以</a:t>
            </a:r>
            <a:r>
              <a:rPr kumimoji="0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为根的子树中的各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结点距离都增加</a:t>
            </a:r>
            <a:r>
              <a:rPr kumimoji="0"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W(u,v)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，如此</a:t>
            </a:r>
            <a:r>
              <a:rPr kumimoji="0"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反复进行</a:t>
            </a:r>
            <a:r>
              <a:rPr kumimoji="0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，直到考察完所有的弦。</a:t>
            </a:r>
          </a:p>
        </p:txBody>
      </p:sp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3">
            <a:extLst>
              <a:ext uri="{FF2B5EF4-FFF2-40B4-BE49-F238E27FC236}">
                <a16:creationId xmlns:a16="http://schemas.microsoft.com/office/drawing/2014/main" id="{499FFDB3-51C0-4C95-9D04-AA184715CA92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BEFD202-EBBE-4043-A07E-805276F9D81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23" name="Text Box 2">
            <a:extLst>
              <a:ext uri="{FF2B5EF4-FFF2-40B4-BE49-F238E27FC236}">
                <a16:creationId xmlns:a16="http://schemas.microsoft.com/office/drawing/2014/main" id="{A3394D4F-0889-4275-9F64-3328AB03E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733425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例题</a:t>
            </a:r>
          </a:p>
        </p:txBody>
      </p:sp>
      <p:pic>
        <p:nvPicPr>
          <p:cNvPr id="819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F9F0F55-4BEF-4B2F-B8D0-08814BC82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5" name="矩形 1">
            <a:extLst>
              <a:ext uri="{FF2B5EF4-FFF2-40B4-BE49-F238E27FC236}">
                <a16:creationId xmlns:a16="http://schemas.microsoft.com/office/drawing/2014/main" id="{731FB67E-741A-447B-9615-9BF5B1AC2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00213"/>
            <a:ext cx="9144000" cy="10779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求上图所示的作业网络的关键路径</a:t>
            </a:r>
            <a:endParaRPr kumimoji="0" lang="en-US" altLang="zh-CN" sz="3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0" lang="en-US" altLang="zh-CN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1926" name="图片 2">
            <a:extLst>
              <a:ext uri="{FF2B5EF4-FFF2-40B4-BE49-F238E27FC236}">
                <a16:creationId xmlns:a16="http://schemas.microsoft.com/office/drawing/2014/main" id="{6AB334E0-B7EF-4FD1-B09E-7F8E745BE1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2270125"/>
            <a:ext cx="7921625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683F285A-468A-4032-B28F-88C3CF900FA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019777-1D39-46B3-8119-DB452DC3C073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7" name="页脚占位符 4">
            <a:extLst>
              <a:ext uri="{FF2B5EF4-FFF2-40B4-BE49-F238E27FC236}">
                <a16:creationId xmlns:a16="http://schemas.microsoft.com/office/drawing/2014/main" id="{78B69B90-186F-4C59-8F35-42457124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计算机应用技术研究所</a:t>
            </a:r>
          </a:p>
        </p:txBody>
      </p:sp>
      <p:sp>
        <p:nvSpPr>
          <p:cNvPr id="82948" name="灯片编号占位符 5">
            <a:extLst>
              <a:ext uri="{FF2B5EF4-FFF2-40B4-BE49-F238E27FC236}">
                <a16:creationId xmlns:a16="http://schemas.microsoft.com/office/drawing/2014/main" id="{AC67DB15-7E6E-47AB-BE46-5FA8C2FF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C89B92-1DDD-4E21-BCC0-9591F3388156}" type="slidenum">
              <a:rPr kumimoji="0" lang="en-US" altLang="zh-CN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9" name="WordArt 3">
            <a:extLst>
              <a:ext uri="{FF2B5EF4-FFF2-40B4-BE49-F238E27FC236}">
                <a16:creationId xmlns:a16="http://schemas.microsoft.com/office/drawing/2014/main" id="{BAEA0ED0-7908-4C20-99D0-F2E945ABE3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744788" y="2205038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</a:rPr>
              <a:t>本节结束！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张勇-硕士答辩">
  <a:themeElements>
    <a:clrScheme name="1_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1_张勇-硕士答辩">
      <a:majorFont>
        <a:latin typeface="Times New Roman"/>
        <a:ea typeface="宋体"/>
        <a:cs typeface=""/>
      </a:majorFont>
      <a:minorFont>
        <a:latin typeface="楷体_GB2312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第6章_二元关系</Template>
  <TotalTime>6943</TotalTime>
  <Words>3124</Words>
  <Application>Microsoft Office PowerPoint</Application>
  <PresentationFormat>全屏显示(4:3)</PresentationFormat>
  <Paragraphs>267</Paragraphs>
  <Slides>66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黑体</vt:lpstr>
      <vt:lpstr>华文行楷</vt:lpstr>
      <vt:lpstr>楷体_GB2312</vt:lpstr>
      <vt:lpstr>隶书</vt:lpstr>
      <vt:lpstr>宋体</vt:lpstr>
      <vt:lpstr>Arial</vt:lpstr>
      <vt:lpstr>Times New Roman</vt:lpstr>
      <vt:lpstr>Wingdings</vt:lpstr>
      <vt:lpstr>Wingdings 2</vt:lpstr>
      <vt:lpstr>张勇-硕士答辩</vt:lpstr>
      <vt:lpstr>1_张勇-硕士答辩</vt:lpstr>
      <vt:lpstr>PowerPoint 演示文稿</vt:lpstr>
      <vt:lpstr>第9章 树基本理论 与算法（下）</vt:lpstr>
      <vt:lpstr>PowerPoint 演示文稿</vt:lpstr>
      <vt:lpstr>特殊根树与算法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树模型的应用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汪荣贵</dc:creator>
  <cp:lastModifiedBy>Windows 用户</cp:lastModifiedBy>
  <cp:revision>199</cp:revision>
  <dcterms:created xsi:type="dcterms:W3CDTF">2008-02-21T03:51:14Z</dcterms:created>
  <dcterms:modified xsi:type="dcterms:W3CDTF">2020-09-07T02:20:56Z</dcterms:modified>
</cp:coreProperties>
</file>